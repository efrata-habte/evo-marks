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people type exam marks by hand and totals are often wrong. EvoMarks reads the digits, checks the arithmetic, and flags sheets that do not add up. The interesting part is not the digit reader, it is how the system improves itself without cheating. Two tracks: A is the self-improvement loop, B is making the model small.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idea to land. Labels are expensive, but arithmetic is free. A reading that satisfies the sum check is almost certainly correct, so we can turn unlabeled sheets into trusted training data. Stress that the verifier is independent: it uses a different kind of evidence from the model (a rule, not a probability). That independence is what stops the model from reinforcing its own mistakes.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system could change its own judge, it would just learn to pass. So the judge is frozen, its files are hashed before and after every run, and the test set is touched once. Because everything is archived with a reason, you can audit why any version was kept or thrown away.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sentence on the slide almost word for word. Explain the contrast: an LLM writing code can produce anything, including broken or dangerous code. Here the improver parses the file into a tree with Python's ast module, changes exactly one value or list, and turns the tree back into source. So it is safe, cheap, reproducible, and every change is explainable. The trade-off, which we say honestly later, is that the space of edits is small.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 was designed in, not added at the end. Three layers: the editor can only produce a limited kind of change, a static check rejects forbidden code, and the run happens in a time-limited subprocess. Be upfront that this is not a true OS sandbox. Being clear about that limit is part of the design.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up the ladder. Level 0 is ordinary self-training, but gated. Level 1 is where code gets rewritten. Level 2 is the recursive step: the thing that makes the edits is itself edited, and judged on separate data (meta_dev) so it cannot overfit to the set used by Level 1. The idea follows the STOP paper: an improver is only better if it produces better improvements.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clear success. Compare two ways of picking pseudo-labels: trust confident predictions, or trust sheets that add up. The rule is cleaner (0.994 vs 0.968 precision), and the final model is better. The reason is independence: confidence comes from the same model that might be wrong.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oversell. The loop works as designed: it is picky. But the check on noise matters: a single evaluation can pass or fail a candidate by chance. Paired by seed the evolved version is +1.05 points on dev at the small budget, but at the full budget the test difference (0.9455 vs 0.9436) is within noise. The loop optimised the cheap evaluator.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plainly: Level 2 did not help. The valuable part is the diagnosis. Our utility measure fixes the parent, so an edit to how parents are chosen is invisible to it. The comparison between Level 1+2 and Level 1 is therefore comparing identical processes. A fairer gate would be the next step.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 the tracks: the loop produces verified pseudo-labels, and those become the student's training data. Noise in those labels flows into the student. Keep the comparison fair: same data, only the targets differ. Be honest that distillation gave a tiny gain, and that an improved teacher did not give a better student. Mention digit 9 as an example of why per-class results matter.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demo short. The point to show is the audit trail: you can see exactly what code changed between two versions and what it did to accuracy. A flag means a human should look at the sheet, not that the sheet is wrong.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Own the weaknesses before anyone asks. The real-handwriting test was not run, so absolute accuracies are optimistic. The edit space is small, there are few seeds, and the sandbox is not OS-level. What the project does show is a careful design: independent judge, constrained edits, full audit trail, and honest measurement of noise.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four design principles, not the numbers. Then name the two concrete next steps and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1188720"/>
            <a:ext cx="822960" cy="7315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5852160" cy="365760"/>
          </a:xfrm>
          <a:prstGeom prst="rect">
            <a:avLst/>
          </a:prstGeom>
          <a:noFill/>
        </p:spPr>
        <p:txBody>
          <a:bodyPr wrap="square" anchor="t" lIns="0" rIns="0" tIns="0" bIns="0">
            <a:spAutoFit/>
          </a:bodyPr>
          <a:lstStyle/>
          <a:p>
            <a:pPr algn="l">
              <a:defRPr sz="1400" b="1">
                <a:solidFill>
                  <a:srgbClr val="93C5FD"/>
                </a:solidFill>
                <a:latin typeface="Calibri"/>
              </a:defRPr>
            </a:pPr>
            <a:r>
              <a:t>TRACK A  +  TRACK B</a:t>
            </a:r>
          </a:p>
        </p:txBody>
      </p:sp>
      <p:sp>
        <p:nvSpPr>
          <p:cNvPr id="5" name="TextBox 4"/>
          <p:cNvSpPr txBox="1"/>
          <p:nvPr/>
        </p:nvSpPr>
        <p:spPr>
          <a:xfrm>
            <a:off x="548640" y="1828800"/>
            <a:ext cx="5852160" cy="2286000"/>
          </a:xfrm>
          <a:prstGeom prst="rect">
            <a:avLst/>
          </a:prstGeom>
          <a:noFill/>
        </p:spPr>
        <p:txBody>
          <a:bodyPr wrap="square" anchor="t" lIns="0" rIns="0" tIns="0" bIns="0">
            <a:spAutoFit/>
          </a:bodyPr>
          <a:lstStyle/>
          <a:p>
            <a:pPr algn="l">
              <a:defRPr sz="3400" b="1">
                <a:solidFill>
                  <a:srgbClr val="FFFFFF"/>
                </a:solidFill>
                <a:latin typeface="Calibri"/>
              </a:defRPr>
            </a:pPr>
            <a:r>
              <a:t>EvoMarks: a system that checks handwritten mark sheets and improves itself safely</a:t>
            </a:r>
          </a:p>
        </p:txBody>
      </p:sp>
      <p:sp>
        <p:nvSpPr>
          <p:cNvPr id="6" name="TextBox 5"/>
          <p:cNvSpPr txBox="1"/>
          <p:nvPr/>
        </p:nvSpPr>
        <p:spPr>
          <a:xfrm>
            <a:off x="548640" y="4343400"/>
            <a:ext cx="5852160" cy="914400"/>
          </a:xfrm>
          <a:prstGeom prst="rect">
            <a:avLst/>
          </a:prstGeom>
          <a:noFill/>
        </p:spPr>
        <p:txBody>
          <a:bodyPr wrap="square" anchor="t" lIns="0" rIns="0" tIns="0" bIns="0">
            <a:spAutoFit/>
          </a:bodyPr>
          <a:lstStyle/>
          <a:p>
            <a:pPr algn="l">
              <a:defRPr sz="1600" b="0">
                <a:solidFill>
                  <a:srgbClr val="CBD5E1"/>
                </a:solidFill>
                <a:latin typeface="Calibri"/>
              </a:defRPr>
            </a:pPr>
            <a:r>
              <a:t>Reads the marks and the total, checks that they add up, and flags the sheet if not. Offline and small.</a:t>
            </a:r>
          </a:p>
        </p:txBody>
      </p:sp>
      <p:sp>
        <p:nvSpPr>
          <p:cNvPr id="7" name="TextBox 6"/>
          <p:cNvSpPr txBox="1"/>
          <p:nvPr/>
        </p:nvSpPr>
        <p:spPr>
          <a:xfrm>
            <a:off x="548640" y="5257800"/>
            <a:ext cx="5852160" cy="914400"/>
          </a:xfrm>
          <a:prstGeom prst="rect">
            <a:avLst/>
          </a:prstGeom>
          <a:noFill/>
        </p:spPr>
        <p:txBody>
          <a:bodyPr wrap="square" anchor="t" lIns="0" rIns="0" tIns="0" bIns="0">
            <a:spAutoFit/>
          </a:bodyPr>
          <a:lstStyle/>
          <a:p>
            <a:pPr algn="l">
              <a:defRPr sz="1600" b="0">
                <a:solidFill>
                  <a:srgbClr val="CBD5E1"/>
                </a:solidFill>
                <a:latin typeface="Calibri"/>
              </a:defRPr>
            </a:pPr>
            <a:r>
              <a:t>Track A: a bounded self-improvement loop with an independent judge. Track B: shrinking the model by distillation.</a:t>
            </a:r>
          </a:p>
        </p:txBody>
      </p:sp>
      <p:sp>
        <p:nvSpPr>
          <p:cNvPr id="8" name="Rounded Rectangle 7"/>
          <p:cNvSpPr/>
          <p:nvPr/>
        </p:nvSpPr>
        <p:spPr>
          <a:xfrm>
            <a:off x="7040880" y="822960"/>
            <a:ext cx="4572000" cy="521208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vomarks_template.png"/>
          <p:cNvPicPr>
            <a:picLocks noChangeAspect="1"/>
          </p:cNvPicPr>
          <p:nvPr/>
        </p:nvPicPr>
        <p:blipFill>
          <a:blip r:embed="rId2"/>
          <a:stretch>
            <a:fillRect/>
          </a:stretch>
        </p:blipFill>
        <p:spPr>
          <a:xfrm>
            <a:off x="7613813" y="1005840"/>
            <a:ext cx="3426132" cy="48463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17320"/>
          </a:xfrm>
          <a:prstGeom prst="rect">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4173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56032"/>
            <a:ext cx="10972800" cy="274320"/>
          </a:xfrm>
          <a:prstGeom prst="rect">
            <a:avLst/>
          </a:prstGeom>
          <a:noFill/>
        </p:spPr>
        <p:txBody>
          <a:bodyPr wrap="square" anchor="t" lIns="0" rIns="0" tIns="0" bIns="0">
            <a:spAutoFit/>
          </a:bodyPr>
          <a:lstStyle/>
          <a:p>
            <a:pPr algn="l">
              <a:defRPr sz="1300" b="1">
                <a:solidFill>
                  <a:srgbClr val="93C5FD"/>
                </a:solidFill>
                <a:latin typeface="Calibri"/>
              </a:defRPr>
            </a:pPr>
            <a:r>
              <a:t>THE CORE IDEA</a:t>
            </a:r>
          </a:p>
        </p:txBody>
      </p:sp>
      <p:sp>
        <p:nvSpPr>
          <p:cNvPr id="6" name="TextBox 5"/>
          <p:cNvSpPr txBox="1"/>
          <p:nvPr/>
        </p:nvSpPr>
        <p:spPr>
          <a:xfrm>
            <a:off x="548640" y="566928"/>
            <a:ext cx="11064240" cy="731520"/>
          </a:xfrm>
          <a:prstGeom prst="rect">
            <a:avLst/>
          </a:prstGeom>
          <a:noFill/>
        </p:spPr>
        <p:txBody>
          <a:bodyPr wrap="square" anchor="t" lIns="0" rIns="0" tIns="0" bIns="0">
            <a:spAutoFit/>
          </a:bodyPr>
          <a:lstStyle/>
          <a:p>
            <a:pPr algn="l">
              <a:defRPr sz="2800" b="1">
                <a:solidFill>
                  <a:srgbClr val="FFFFFF"/>
                </a:solidFill>
                <a:latin typeface="Calibri"/>
              </a:defRPr>
            </a:pPr>
            <a:r>
              <a:t>Arithmetic is the free, independent judge</a:t>
            </a:r>
          </a:p>
        </p:txBody>
      </p:sp>
      <p:sp>
        <p:nvSpPr>
          <p:cNvPr id="7" name="TextBox 6"/>
          <p:cNvSpPr txBox="1"/>
          <p:nvPr/>
        </p:nvSpPr>
        <p:spPr>
          <a:xfrm>
            <a:off x="548640" y="6473952"/>
            <a:ext cx="5486400" cy="228600"/>
          </a:xfrm>
          <a:prstGeom prst="rect">
            <a:avLst/>
          </a:prstGeom>
          <a:noFill/>
        </p:spPr>
        <p:txBody>
          <a:bodyPr wrap="square" anchor="t" lIns="0" rIns="0" tIns="0" bIns="0">
            <a:spAutoFit/>
          </a:bodyPr>
          <a:lstStyle/>
          <a:p>
            <a:pPr algn="l">
              <a:defRPr sz="1100" b="1">
                <a:solidFill>
                  <a:srgbClr val="64748B"/>
                </a:solidFill>
                <a:latin typeface="Calibri"/>
              </a:defRPr>
            </a:pPr>
            <a:r>
              <a:t>EvoMarks</a:t>
            </a:r>
          </a:p>
        </p:txBody>
      </p:sp>
      <p:sp>
        <p:nvSpPr>
          <p:cNvPr id="8" name="TextBox 7"/>
          <p:cNvSpPr txBox="1"/>
          <p:nvPr/>
        </p:nvSpPr>
        <p:spPr>
          <a:xfrm>
            <a:off x="10728655" y="6473952"/>
            <a:ext cx="914400" cy="228600"/>
          </a:xfrm>
          <a:prstGeom prst="rect">
            <a:avLst/>
          </a:prstGeom>
          <a:noFill/>
        </p:spPr>
        <p:txBody>
          <a:bodyPr wrap="square" anchor="t" lIns="0" rIns="0" tIns="0" bIns="0">
            <a:spAutoFit/>
          </a:bodyPr>
          <a:lstStyle/>
          <a:p>
            <a:pPr algn="r">
              <a:defRPr sz="1100" b="0">
                <a:solidFill>
                  <a:srgbClr val="64748B"/>
                </a:solidFill>
                <a:latin typeface="Calibri"/>
              </a:defRPr>
            </a:pPr>
            <a:r>
              <a:t>2 / 13</a:t>
            </a:r>
          </a:p>
        </p:txBody>
      </p:sp>
      <p:sp>
        <p:nvSpPr>
          <p:cNvPr id="9" name="Rounded Rectangle 8"/>
          <p:cNvSpPr/>
          <p:nvPr/>
        </p:nvSpPr>
        <p:spPr>
          <a:xfrm>
            <a:off x="548640" y="17830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9476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4672" y="26586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1</a:t>
            </a:r>
          </a:p>
        </p:txBody>
      </p:sp>
      <p:sp>
        <p:nvSpPr>
          <p:cNvPr id="12" name="TextBox 11"/>
          <p:cNvSpPr txBox="1"/>
          <p:nvPr/>
        </p:nvSpPr>
        <p:spPr>
          <a:xfrm>
            <a:off x="1417319" y="1892807"/>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A sheet has 5 marks and a total. If the marks fit their maximum and add up to the total, the reading is very likely right.</a:t>
            </a:r>
          </a:p>
        </p:txBody>
      </p:sp>
      <p:sp>
        <p:nvSpPr>
          <p:cNvPr id="13" name="Rounded Rectangle 12"/>
          <p:cNvSpPr/>
          <p:nvPr/>
        </p:nvSpPr>
        <p:spPr>
          <a:xfrm>
            <a:off x="6208776" y="17830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08776" y="19476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4808" y="26586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2</a:t>
            </a:r>
          </a:p>
        </p:txBody>
      </p:sp>
      <p:sp>
        <p:nvSpPr>
          <p:cNvPr id="16" name="TextBox 15"/>
          <p:cNvSpPr txBox="1"/>
          <p:nvPr/>
        </p:nvSpPr>
        <p:spPr>
          <a:xfrm>
            <a:off x="7077456" y="1892807"/>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No human labels are needed to know that. The rule itself is the supervision.</a:t>
            </a:r>
          </a:p>
        </p:txBody>
      </p:sp>
      <p:sp>
        <p:nvSpPr>
          <p:cNvPr id="17" name="Rounded Rectangle 16"/>
          <p:cNvSpPr/>
          <p:nvPr/>
        </p:nvSpPr>
        <p:spPr>
          <a:xfrm>
            <a:off x="548640" y="41833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3479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4672" y="50589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3</a:t>
            </a:r>
          </a:p>
        </p:txBody>
      </p:sp>
      <p:sp>
        <p:nvSpPr>
          <p:cNvPr id="20" name="TextBox 19"/>
          <p:cNvSpPr txBox="1"/>
          <p:nvPr/>
        </p:nvSpPr>
        <p:spPr>
          <a:xfrm>
            <a:off x="1417319" y="4293108"/>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So the system can look at thousands of unlabeled sheets and keep only the ones the rule trusts.</a:t>
            </a:r>
          </a:p>
        </p:txBody>
      </p:sp>
      <p:sp>
        <p:nvSpPr>
          <p:cNvPr id="21" name="Rounded Rectangle 20"/>
          <p:cNvSpPr/>
          <p:nvPr/>
        </p:nvSpPr>
        <p:spPr>
          <a:xfrm>
            <a:off x="6208776" y="41833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08776" y="43479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64808" y="50589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4</a:t>
            </a:r>
          </a:p>
        </p:txBody>
      </p:sp>
      <p:sp>
        <p:nvSpPr>
          <p:cNvPr id="24" name="TextBox 23"/>
          <p:cNvSpPr txBox="1"/>
          <p:nvPr/>
        </p:nvSpPr>
        <p:spPr>
          <a:xfrm>
            <a:off x="7077456" y="4293108"/>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The rule never sees the model's confidence or the true labels, so the model cannot talk its way past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17320"/>
          </a:xfrm>
          <a:prstGeom prst="rect">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4173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56032"/>
            <a:ext cx="10972800" cy="274320"/>
          </a:xfrm>
          <a:prstGeom prst="rect">
            <a:avLst/>
          </a:prstGeom>
          <a:noFill/>
        </p:spPr>
        <p:txBody>
          <a:bodyPr wrap="square" anchor="t" lIns="0" rIns="0" tIns="0" bIns="0">
            <a:spAutoFit/>
          </a:bodyPr>
          <a:lstStyle/>
          <a:p>
            <a:pPr algn="l">
              <a:defRPr sz="1300" b="1">
                <a:solidFill>
                  <a:srgbClr val="93C5FD"/>
                </a:solidFill>
                <a:latin typeface="Calibri"/>
              </a:defRPr>
            </a:pPr>
            <a:r>
              <a:t>DESIGN DECISION 1</a:t>
            </a:r>
          </a:p>
        </p:txBody>
      </p:sp>
      <p:sp>
        <p:nvSpPr>
          <p:cNvPr id="6" name="TextBox 5"/>
          <p:cNvSpPr txBox="1"/>
          <p:nvPr/>
        </p:nvSpPr>
        <p:spPr>
          <a:xfrm>
            <a:off x="548640" y="566928"/>
            <a:ext cx="11064240" cy="731520"/>
          </a:xfrm>
          <a:prstGeom prst="rect">
            <a:avLst/>
          </a:prstGeom>
          <a:noFill/>
        </p:spPr>
        <p:txBody>
          <a:bodyPr wrap="square" anchor="t" lIns="0" rIns="0" tIns="0" bIns="0">
            <a:spAutoFit/>
          </a:bodyPr>
          <a:lstStyle/>
          <a:p>
            <a:pPr algn="l">
              <a:defRPr sz="2800" b="1">
                <a:solidFill>
                  <a:srgbClr val="FFFFFF"/>
                </a:solidFill>
                <a:latin typeface="Calibri"/>
              </a:defRPr>
            </a:pPr>
            <a:r>
              <a:t>The judge is fixed; the thing being improved is not</a:t>
            </a:r>
          </a:p>
        </p:txBody>
      </p:sp>
      <p:sp>
        <p:nvSpPr>
          <p:cNvPr id="7" name="TextBox 6"/>
          <p:cNvSpPr txBox="1"/>
          <p:nvPr/>
        </p:nvSpPr>
        <p:spPr>
          <a:xfrm>
            <a:off x="548640" y="6473952"/>
            <a:ext cx="5486400" cy="228600"/>
          </a:xfrm>
          <a:prstGeom prst="rect">
            <a:avLst/>
          </a:prstGeom>
          <a:noFill/>
        </p:spPr>
        <p:txBody>
          <a:bodyPr wrap="square" anchor="t" lIns="0" rIns="0" tIns="0" bIns="0">
            <a:spAutoFit/>
          </a:bodyPr>
          <a:lstStyle/>
          <a:p>
            <a:pPr algn="l">
              <a:defRPr sz="1100" b="1">
                <a:solidFill>
                  <a:srgbClr val="64748B"/>
                </a:solidFill>
                <a:latin typeface="Calibri"/>
              </a:defRPr>
            </a:pPr>
            <a:r>
              <a:t>EvoMarks</a:t>
            </a:r>
          </a:p>
        </p:txBody>
      </p:sp>
      <p:sp>
        <p:nvSpPr>
          <p:cNvPr id="8" name="TextBox 7"/>
          <p:cNvSpPr txBox="1"/>
          <p:nvPr/>
        </p:nvSpPr>
        <p:spPr>
          <a:xfrm>
            <a:off x="10728655" y="6473952"/>
            <a:ext cx="914400" cy="228600"/>
          </a:xfrm>
          <a:prstGeom prst="rect">
            <a:avLst/>
          </a:prstGeom>
          <a:noFill/>
        </p:spPr>
        <p:txBody>
          <a:bodyPr wrap="square" anchor="t" lIns="0" rIns="0" tIns="0" bIns="0">
            <a:spAutoFit/>
          </a:bodyPr>
          <a:lstStyle/>
          <a:p>
            <a:pPr algn="r">
              <a:defRPr sz="1100" b="0">
                <a:solidFill>
                  <a:srgbClr val="64748B"/>
                </a:solidFill>
                <a:latin typeface="Calibri"/>
              </a:defRPr>
            </a:pPr>
            <a:r>
              <a:t>3 / 13</a:t>
            </a:r>
          </a:p>
        </p:txBody>
      </p:sp>
      <p:sp>
        <p:nvSpPr>
          <p:cNvPr id="9" name="Rounded Rectangle 8"/>
          <p:cNvSpPr/>
          <p:nvPr/>
        </p:nvSpPr>
        <p:spPr>
          <a:xfrm>
            <a:off x="548640" y="17830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9476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4672" y="26586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1</a:t>
            </a:r>
          </a:p>
        </p:txBody>
      </p:sp>
      <p:sp>
        <p:nvSpPr>
          <p:cNvPr id="12" name="TextBox 11"/>
          <p:cNvSpPr txBox="1"/>
          <p:nvPr/>
        </p:nvSpPr>
        <p:spPr>
          <a:xfrm>
            <a:off x="1417319" y="1892807"/>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Two roles are kept apart: the part that proposes changes, and the part that decides whether a change is kept.</a:t>
            </a:r>
          </a:p>
        </p:txBody>
      </p:sp>
      <p:sp>
        <p:nvSpPr>
          <p:cNvPr id="13" name="Rounded Rectangle 12"/>
          <p:cNvSpPr/>
          <p:nvPr/>
        </p:nvSpPr>
        <p:spPr>
          <a:xfrm>
            <a:off x="6208776" y="17830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08776" y="19476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4808" y="26586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2</a:t>
            </a:r>
          </a:p>
        </p:txBody>
      </p:sp>
      <p:sp>
        <p:nvSpPr>
          <p:cNvPr id="16" name="TextBox 15"/>
          <p:cNvSpPr txBox="1"/>
          <p:nvPr/>
        </p:nvSpPr>
        <p:spPr>
          <a:xfrm>
            <a:off x="7077456" y="1892807"/>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The evaluator, the verifier, the data and the tests are protected. Candidates are not allowed to mention them.</a:t>
            </a:r>
          </a:p>
        </p:txBody>
      </p:sp>
      <p:sp>
        <p:nvSpPr>
          <p:cNvPr id="17" name="Rounded Rectangle 16"/>
          <p:cNvSpPr/>
          <p:nvPr/>
        </p:nvSpPr>
        <p:spPr>
          <a:xfrm>
            <a:off x="548640" y="41833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3479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4672" y="50589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3</a:t>
            </a:r>
          </a:p>
        </p:txBody>
      </p:sp>
      <p:sp>
        <p:nvSpPr>
          <p:cNvPr id="20" name="TextBox 19"/>
          <p:cNvSpPr txBox="1"/>
          <p:nvPr/>
        </p:nvSpPr>
        <p:spPr>
          <a:xfrm>
            <a:off x="1417319" y="4293108"/>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Test sheets come from unseen writers and are read once, only for reporting. Nothing is tuned on them.</a:t>
            </a:r>
          </a:p>
        </p:txBody>
      </p:sp>
      <p:sp>
        <p:nvSpPr>
          <p:cNvPr id="21" name="Rounded Rectangle 20"/>
          <p:cNvSpPr/>
          <p:nvPr/>
        </p:nvSpPr>
        <p:spPr>
          <a:xfrm>
            <a:off x="6208776" y="41833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08776" y="43479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64808" y="50589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4</a:t>
            </a:r>
          </a:p>
        </p:txBody>
      </p:sp>
      <p:sp>
        <p:nvSpPr>
          <p:cNvPr id="24" name="TextBox 23"/>
          <p:cNvSpPr txBox="1"/>
          <p:nvPr/>
        </p:nvSpPr>
        <p:spPr>
          <a:xfrm>
            <a:off x="7077456" y="4293108"/>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Every version is archived, accepted or rejected, with its reason. A bad change is rolled back, never lost.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17320"/>
          </a:xfrm>
          <a:prstGeom prst="rect">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4173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56032"/>
            <a:ext cx="10972800" cy="274320"/>
          </a:xfrm>
          <a:prstGeom prst="rect">
            <a:avLst/>
          </a:prstGeom>
          <a:noFill/>
        </p:spPr>
        <p:txBody>
          <a:bodyPr wrap="square" anchor="t" lIns="0" rIns="0" tIns="0" bIns="0">
            <a:spAutoFit/>
          </a:bodyPr>
          <a:lstStyle/>
          <a:p>
            <a:pPr algn="l">
              <a:defRPr sz="1300" b="1">
                <a:solidFill>
                  <a:srgbClr val="93C5FD"/>
                </a:solidFill>
                <a:latin typeface="Calibri"/>
              </a:defRPr>
            </a:pPr>
            <a:r>
              <a:t>DESIGN DECISION 2</a:t>
            </a:r>
          </a:p>
        </p:txBody>
      </p:sp>
      <p:sp>
        <p:nvSpPr>
          <p:cNvPr id="6" name="TextBox 5"/>
          <p:cNvSpPr txBox="1"/>
          <p:nvPr/>
        </p:nvSpPr>
        <p:spPr>
          <a:xfrm>
            <a:off x="548640" y="566928"/>
            <a:ext cx="11064240" cy="731520"/>
          </a:xfrm>
          <a:prstGeom prst="rect">
            <a:avLst/>
          </a:prstGeom>
          <a:noFill/>
        </p:spPr>
        <p:txBody>
          <a:bodyPr wrap="square" anchor="t" lIns="0" rIns="0" tIns="0" bIns="0">
            <a:spAutoFit/>
          </a:bodyPr>
          <a:lstStyle/>
          <a:p>
            <a:pPr algn="l">
              <a:defRPr sz="2800" b="1">
                <a:solidFill>
                  <a:srgbClr val="FFFFFF"/>
                </a:solidFill>
                <a:latin typeface="Calibri"/>
              </a:defRPr>
            </a:pPr>
            <a:r>
              <a:t>Edit the code as a tree, not as text</a:t>
            </a:r>
          </a:p>
        </p:txBody>
      </p:sp>
      <p:sp>
        <p:nvSpPr>
          <p:cNvPr id="7" name="TextBox 6"/>
          <p:cNvSpPr txBox="1"/>
          <p:nvPr/>
        </p:nvSpPr>
        <p:spPr>
          <a:xfrm>
            <a:off x="548640" y="6473952"/>
            <a:ext cx="5486400" cy="228600"/>
          </a:xfrm>
          <a:prstGeom prst="rect">
            <a:avLst/>
          </a:prstGeom>
          <a:noFill/>
        </p:spPr>
        <p:txBody>
          <a:bodyPr wrap="square" anchor="t" lIns="0" rIns="0" tIns="0" bIns="0">
            <a:spAutoFit/>
          </a:bodyPr>
          <a:lstStyle/>
          <a:p>
            <a:pPr algn="l">
              <a:defRPr sz="1100" b="1">
                <a:solidFill>
                  <a:srgbClr val="64748B"/>
                </a:solidFill>
                <a:latin typeface="Calibri"/>
              </a:defRPr>
            </a:pPr>
            <a:r>
              <a:t>EvoMarks</a:t>
            </a:r>
          </a:p>
        </p:txBody>
      </p:sp>
      <p:sp>
        <p:nvSpPr>
          <p:cNvPr id="8" name="TextBox 7"/>
          <p:cNvSpPr txBox="1"/>
          <p:nvPr/>
        </p:nvSpPr>
        <p:spPr>
          <a:xfrm>
            <a:off x="10728655" y="6473952"/>
            <a:ext cx="914400" cy="228600"/>
          </a:xfrm>
          <a:prstGeom prst="rect">
            <a:avLst/>
          </a:prstGeom>
          <a:noFill/>
        </p:spPr>
        <p:txBody>
          <a:bodyPr wrap="square" anchor="t" lIns="0" rIns="0" tIns="0" bIns="0">
            <a:spAutoFit/>
          </a:bodyPr>
          <a:lstStyle/>
          <a:p>
            <a:pPr algn="r">
              <a:defRPr sz="1100" b="0">
                <a:solidFill>
                  <a:srgbClr val="64748B"/>
                </a:solidFill>
                <a:latin typeface="Calibri"/>
              </a:defRPr>
            </a:pPr>
            <a:r>
              <a:t>4 / 13</a:t>
            </a:r>
          </a:p>
        </p:txBody>
      </p:sp>
      <p:sp>
        <p:nvSpPr>
          <p:cNvPr id="9" name="Rounded Rectangle 8"/>
          <p:cNvSpPr/>
          <p:nvPr/>
        </p:nvSpPr>
        <p:spPr>
          <a:xfrm>
            <a:off x="548640" y="1783080"/>
            <a:ext cx="5486400" cy="10058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947672"/>
            <a:ext cx="82296" cy="6766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4672" y="207568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1</a:t>
            </a:r>
          </a:p>
        </p:txBody>
      </p:sp>
      <p:sp>
        <p:nvSpPr>
          <p:cNvPr id="12" name="TextBox 11"/>
          <p:cNvSpPr txBox="1"/>
          <p:nvPr/>
        </p:nvSpPr>
        <p:spPr>
          <a:xfrm>
            <a:off x="1417319" y="1892807"/>
            <a:ext cx="4389120" cy="786384"/>
          </a:xfrm>
          <a:prstGeom prst="rect">
            <a:avLst/>
          </a:prstGeom>
          <a:noFill/>
        </p:spPr>
        <p:txBody>
          <a:bodyPr wrap="square" anchor="ctr" lIns="0" rIns="0" tIns="0" bIns="0">
            <a:spAutoFit/>
          </a:bodyPr>
          <a:lstStyle/>
          <a:p>
            <a:pPr algn="l">
              <a:defRPr sz="1600" b="0">
                <a:solidFill>
                  <a:srgbClr val="1F2937"/>
                </a:solidFill>
                <a:latin typeface="Calibri"/>
              </a:defRPr>
            </a:pPr>
            <a:r>
              <a:t>The improver reads its own code as a tree, changes one value or list, and writes it back as new Python.</a:t>
            </a:r>
          </a:p>
        </p:txBody>
      </p:sp>
      <p:sp>
        <p:nvSpPr>
          <p:cNvPr id="13" name="Rounded Rectangle 12"/>
          <p:cNvSpPr/>
          <p:nvPr/>
        </p:nvSpPr>
        <p:spPr>
          <a:xfrm>
            <a:off x="548640" y="2971800"/>
            <a:ext cx="5486400" cy="10058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136392"/>
            <a:ext cx="82296" cy="6766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4672" y="326440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2</a:t>
            </a:r>
          </a:p>
        </p:txBody>
      </p:sp>
      <p:sp>
        <p:nvSpPr>
          <p:cNvPr id="16" name="TextBox 15"/>
          <p:cNvSpPr txBox="1"/>
          <p:nvPr/>
        </p:nvSpPr>
        <p:spPr>
          <a:xfrm>
            <a:off x="1417319" y="3081528"/>
            <a:ext cx="4389120" cy="786384"/>
          </a:xfrm>
          <a:prstGeom prst="rect">
            <a:avLst/>
          </a:prstGeom>
          <a:noFill/>
        </p:spPr>
        <p:txBody>
          <a:bodyPr wrap="square" anchor="ctr" lIns="0" rIns="0" tIns="0" bIns="0">
            <a:spAutoFit/>
          </a:bodyPr>
          <a:lstStyle/>
          <a:p>
            <a:pPr algn="l">
              <a:defRPr sz="1600" b="0">
                <a:solidFill>
                  <a:srgbClr val="1F2937"/>
                </a:solidFill>
                <a:latin typeface="Calibri"/>
              </a:defRPr>
            </a:pPr>
            <a:r>
              <a:t>That is how the system rewrites its own source safely without an LLM.</a:t>
            </a:r>
          </a:p>
        </p:txBody>
      </p:sp>
      <p:sp>
        <p:nvSpPr>
          <p:cNvPr id="17" name="Rounded Rectangle 16"/>
          <p:cNvSpPr/>
          <p:nvPr/>
        </p:nvSpPr>
        <p:spPr>
          <a:xfrm>
            <a:off x="548640" y="4160520"/>
            <a:ext cx="5486400" cy="10058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325112"/>
            <a:ext cx="82296" cy="6766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4672" y="445312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3</a:t>
            </a:r>
          </a:p>
        </p:txBody>
      </p:sp>
      <p:sp>
        <p:nvSpPr>
          <p:cNvPr id="20" name="TextBox 19"/>
          <p:cNvSpPr txBox="1"/>
          <p:nvPr/>
        </p:nvSpPr>
        <p:spPr>
          <a:xfrm>
            <a:off x="1417319" y="4270248"/>
            <a:ext cx="4389120" cy="786384"/>
          </a:xfrm>
          <a:prstGeom prst="rect">
            <a:avLst/>
          </a:prstGeom>
          <a:noFill/>
        </p:spPr>
        <p:txBody>
          <a:bodyPr wrap="square" anchor="ctr" lIns="0" rIns="0" tIns="0" bIns="0">
            <a:spAutoFit/>
          </a:bodyPr>
          <a:lstStyle/>
          <a:p>
            <a:pPr algn="l">
              <a:defRPr sz="1600" b="0">
                <a:solidFill>
                  <a:srgbClr val="1F2937"/>
                </a:solidFill>
                <a:latin typeface="Calibri"/>
              </a:defRPr>
            </a:pPr>
            <a:r>
              <a:t>Every candidate is valid Python by construction: no syntax errors, no half-written files.</a:t>
            </a:r>
          </a:p>
        </p:txBody>
      </p:sp>
      <p:sp>
        <p:nvSpPr>
          <p:cNvPr id="21" name="Rounded Rectangle 20"/>
          <p:cNvSpPr/>
          <p:nvPr/>
        </p:nvSpPr>
        <p:spPr>
          <a:xfrm>
            <a:off x="548640" y="5349240"/>
            <a:ext cx="5486400" cy="10058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5513832"/>
            <a:ext cx="82296" cy="6766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4672" y="564184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4</a:t>
            </a:r>
          </a:p>
        </p:txBody>
      </p:sp>
      <p:sp>
        <p:nvSpPr>
          <p:cNvPr id="24" name="TextBox 23"/>
          <p:cNvSpPr txBox="1"/>
          <p:nvPr/>
        </p:nvSpPr>
        <p:spPr>
          <a:xfrm>
            <a:off x="1417319" y="5458968"/>
            <a:ext cx="4389120" cy="786384"/>
          </a:xfrm>
          <a:prstGeom prst="rect">
            <a:avLst/>
          </a:prstGeom>
          <a:noFill/>
        </p:spPr>
        <p:txBody>
          <a:bodyPr wrap="square" anchor="ctr" lIns="0" rIns="0" tIns="0" bIns="0">
            <a:spAutoFit/>
          </a:bodyPr>
          <a:lstStyle/>
          <a:p>
            <a:pPr algn="l">
              <a:defRPr sz="1600" b="0">
                <a:solidFill>
                  <a:srgbClr val="1F2937"/>
                </a:solidFill>
                <a:latin typeface="Calibri"/>
              </a:defRPr>
            </a:pPr>
            <a:r>
              <a:t>Each edit is one small, named change (tweak a constant, add or remove a block, resize the model), so a result can be traced to its cause.</a:t>
            </a:r>
          </a:p>
        </p:txBody>
      </p:sp>
      <p:sp>
        <p:nvSpPr>
          <p:cNvPr id="25" name="Rounded Rectangle 24"/>
          <p:cNvSpPr/>
          <p:nvPr/>
        </p:nvSpPr>
        <p:spPr>
          <a:xfrm>
            <a:off x="6309360" y="1783080"/>
            <a:ext cx="5349240" cy="45720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29400" y="2057400"/>
            <a:ext cx="4709159" cy="4023360"/>
          </a:xfrm>
          <a:prstGeom prst="rect">
            <a:avLst/>
          </a:prstGeom>
          <a:noFill/>
        </p:spPr>
        <p:txBody>
          <a:bodyPr wrap="square">
            <a:spAutoFit/>
          </a:bodyPr>
          <a:lstStyle/>
          <a:p>
            <a:pPr>
              <a:defRPr sz="1600">
                <a:solidFill>
                  <a:srgbClr val="94A3B8"/>
                </a:solidFill>
                <a:latin typeface="Consolas"/>
              </a:defRPr>
            </a:pPr>
            <a:r>
              <a:t># parse -&gt; change one node -&gt; unparse</a:t>
            </a:r>
          </a:p>
          <a:p>
            <a:pPr>
              <a:defRPr sz="1600">
                <a:solidFill>
                  <a:srgbClr val="E2E8F0"/>
                </a:solidFill>
                <a:latin typeface="Consolas"/>
              </a:defRPr>
            </a:pPr>
          </a:p>
          <a:p>
            <a:pPr>
              <a:defRPr sz="1600">
                <a:solidFill>
                  <a:srgbClr val="E2E8F0"/>
                </a:solidFill>
                <a:latin typeface="Consolas"/>
              </a:defRPr>
            </a:pPr>
            <a:r>
              <a:t>tree = ast.parse(source)</a:t>
            </a:r>
          </a:p>
          <a:p>
            <a:pPr>
              <a:defRPr sz="1600">
                <a:solidFill>
                  <a:srgbClr val="94A3B8"/>
                </a:solidFill>
                <a:latin typeface="Consolas"/>
              </a:defRPr>
            </a:pPr>
            <a:r>
              <a:t># e.g. STEP_SCALE = 0.3 -&gt; 0.45</a:t>
            </a:r>
          </a:p>
          <a:p>
            <a:pPr>
              <a:defRPr sz="1600">
                <a:solidFill>
                  <a:srgbClr val="E2E8F0"/>
                </a:solidFill>
                <a:latin typeface="Consolas"/>
              </a:defRPr>
            </a:pPr>
            <a:r>
              <a:t>node.value = ast.Constant(0.45)</a:t>
            </a:r>
          </a:p>
          <a:p>
            <a:pPr>
              <a:defRPr sz="1600">
                <a:solidFill>
                  <a:srgbClr val="E2E8F0"/>
                </a:solidFill>
                <a:latin typeface="Consolas"/>
              </a:defRPr>
            </a:pPr>
            <a:r>
              <a:t>new_source = ast.unparse(tree)</a:t>
            </a:r>
          </a:p>
          <a:p>
            <a:pPr>
              <a:defRPr sz="1600">
                <a:solidFill>
                  <a:srgbClr val="E2E8F0"/>
                </a:solidFill>
                <a:latin typeface="Consolas"/>
              </a:defRPr>
            </a:pPr>
          </a:p>
          <a:p>
            <a:pPr>
              <a:defRPr sz="1600">
                <a:solidFill>
                  <a:srgbClr val="94A3B8"/>
                </a:solidFill>
                <a:latin typeface="Consolas"/>
              </a:defRPr>
            </a:pPr>
            <a:r>
              <a:t># illustrative; see evomarks/code_editor.py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17320"/>
          </a:xfrm>
          <a:prstGeom prst="rect">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4173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56032"/>
            <a:ext cx="10972800" cy="274320"/>
          </a:xfrm>
          <a:prstGeom prst="rect">
            <a:avLst/>
          </a:prstGeom>
          <a:noFill/>
        </p:spPr>
        <p:txBody>
          <a:bodyPr wrap="square" anchor="t" lIns="0" rIns="0" tIns="0" bIns="0">
            <a:spAutoFit/>
          </a:bodyPr>
          <a:lstStyle/>
          <a:p>
            <a:pPr algn="l">
              <a:defRPr sz="1300" b="1">
                <a:solidFill>
                  <a:srgbClr val="93C5FD"/>
                </a:solidFill>
                <a:latin typeface="Calibri"/>
              </a:defRPr>
            </a:pPr>
            <a:r>
              <a:t>DESIGN DECISION 3</a:t>
            </a:r>
          </a:p>
        </p:txBody>
      </p:sp>
      <p:sp>
        <p:nvSpPr>
          <p:cNvPr id="6" name="TextBox 5"/>
          <p:cNvSpPr txBox="1"/>
          <p:nvPr/>
        </p:nvSpPr>
        <p:spPr>
          <a:xfrm>
            <a:off x="548640" y="566928"/>
            <a:ext cx="11064240" cy="731520"/>
          </a:xfrm>
          <a:prstGeom prst="rect">
            <a:avLst/>
          </a:prstGeom>
          <a:noFill/>
        </p:spPr>
        <p:txBody>
          <a:bodyPr wrap="square" anchor="t" lIns="0" rIns="0" tIns="0" bIns="0">
            <a:spAutoFit/>
          </a:bodyPr>
          <a:lstStyle/>
          <a:p>
            <a:pPr algn="l">
              <a:defRPr sz="2800" b="1">
                <a:solidFill>
                  <a:srgbClr val="FFFFFF"/>
                </a:solidFill>
                <a:latin typeface="Calibri"/>
              </a:defRPr>
            </a:pPr>
            <a:r>
              <a:t>Small edit space, many guard-rails</a:t>
            </a:r>
          </a:p>
        </p:txBody>
      </p:sp>
      <p:sp>
        <p:nvSpPr>
          <p:cNvPr id="7" name="TextBox 6"/>
          <p:cNvSpPr txBox="1"/>
          <p:nvPr/>
        </p:nvSpPr>
        <p:spPr>
          <a:xfrm>
            <a:off x="548640" y="6473952"/>
            <a:ext cx="5486400" cy="228600"/>
          </a:xfrm>
          <a:prstGeom prst="rect">
            <a:avLst/>
          </a:prstGeom>
          <a:noFill/>
        </p:spPr>
        <p:txBody>
          <a:bodyPr wrap="square" anchor="t" lIns="0" rIns="0" tIns="0" bIns="0">
            <a:spAutoFit/>
          </a:bodyPr>
          <a:lstStyle/>
          <a:p>
            <a:pPr algn="l">
              <a:defRPr sz="1100" b="1">
                <a:solidFill>
                  <a:srgbClr val="64748B"/>
                </a:solidFill>
                <a:latin typeface="Calibri"/>
              </a:defRPr>
            </a:pPr>
            <a:r>
              <a:t>EvoMarks</a:t>
            </a:r>
          </a:p>
        </p:txBody>
      </p:sp>
      <p:sp>
        <p:nvSpPr>
          <p:cNvPr id="8" name="TextBox 7"/>
          <p:cNvSpPr txBox="1"/>
          <p:nvPr/>
        </p:nvSpPr>
        <p:spPr>
          <a:xfrm>
            <a:off x="10728655" y="6473952"/>
            <a:ext cx="914400" cy="228600"/>
          </a:xfrm>
          <a:prstGeom prst="rect">
            <a:avLst/>
          </a:prstGeom>
          <a:noFill/>
        </p:spPr>
        <p:txBody>
          <a:bodyPr wrap="square" anchor="t" lIns="0" rIns="0" tIns="0" bIns="0">
            <a:spAutoFit/>
          </a:bodyPr>
          <a:lstStyle/>
          <a:p>
            <a:pPr algn="r">
              <a:defRPr sz="1100" b="0">
                <a:solidFill>
                  <a:srgbClr val="64748B"/>
                </a:solidFill>
                <a:latin typeface="Calibri"/>
              </a:defRPr>
            </a:pPr>
            <a:r>
              <a:t>5 / 13</a:t>
            </a:r>
          </a:p>
        </p:txBody>
      </p:sp>
      <p:sp>
        <p:nvSpPr>
          <p:cNvPr id="9" name="Rounded Rectangle 8"/>
          <p:cNvSpPr/>
          <p:nvPr/>
        </p:nvSpPr>
        <p:spPr>
          <a:xfrm>
            <a:off x="548640" y="17830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9476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4672" y="26586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1</a:t>
            </a:r>
          </a:p>
        </p:txBody>
      </p:sp>
      <p:sp>
        <p:nvSpPr>
          <p:cNvPr id="12" name="TextBox 11"/>
          <p:cNvSpPr txBox="1"/>
          <p:nvPr/>
        </p:nvSpPr>
        <p:spPr>
          <a:xfrm>
            <a:off x="1417319" y="1892807"/>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Edits are limited to a short list: constants, whitelisted preprocessing and augmentation blocks, and model size. Each constant has hard bounds.</a:t>
            </a:r>
          </a:p>
        </p:txBody>
      </p:sp>
      <p:sp>
        <p:nvSpPr>
          <p:cNvPr id="13" name="Rounded Rectangle 12"/>
          <p:cNvSpPr/>
          <p:nvPr/>
        </p:nvSpPr>
        <p:spPr>
          <a:xfrm>
            <a:off x="6208776" y="17830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08776" y="19476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4808" y="26586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2</a:t>
            </a:r>
          </a:p>
        </p:txBody>
      </p:sp>
      <p:sp>
        <p:nvSpPr>
          <p:cNvPr id="16" name="TextBox 15"/>
          <p:cNvSpPr txBox="1"/>
          <p:nvPr/>
        </p:nvSpPr>
        <p:spPr>
          <a:xfrm>
            <a:off x="7077456" y="1892807"/>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Before running, a static check allows only a whitelist of imports and blocks risky names such as file, system and eval access.</a:t>
            </a:r>
          </a:p>
        </p:txBody>
      </p:sp>
      <p:sp>
        <p:nvSpPr>
          <p:cNvPr id="17" name="Rounded Rectangle 16"/>
          <p:cNvSpPr/>
          <p:nvPr/>
        </p:nvSpPr>
        <p:spPr>
          <a:xfrm>
            <a:off x="548640" y="41833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3479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4672" y="50589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3</a:t>
            </a:r>
          </a:p>
        </p:txBody>
      </p:sp>
      <p:sp>
        <p:nvSpPr>
          <p:cNvPr id="20" name="TextBox 19"/>
          <p:cNvSpPr txBox="1"/>
          <p:nvPr/>
        </p:nvSpPr>
        <p:spPr>
          <a:xfrm>
            <a:off x="1417319" y="4293108"/>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Each candidate runs in a separate process with a time limit, under one fixed small budget.</a:t>
            </a:r>
          </a:p>
        </p:txBody>
      </p:sp>
      <p:sp>
        <p:nvSpPr>
          <p:cNvPr id="21" name="Rounded Rectangle 20"/>
          <p:cNvSpPr/>
          <p:nvPr/>
        </p:nvSpPr>
        <p:spPr>
          <a:xfrm>
            <a:off x="6208776" y="41833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08776" y="43479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64808" y="50589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4</a:t>
            </a:r>
          </a:p>
        </p:txBody>
      </p:sp>
      <p:sp>
        <p:nvSpPr>
          <p:cNvPr id="24" name="TextBox 23"/>
          <p:cNvSpPr txBox="1"/>
          <p:nvPr/>
        </p:nvSpPr>
        <p:spPr>
          <a:xfrm>
            <a:off x="7077456" y="4293108"/>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Honest limit: this is a whitelist plus process isolation, not an operating-system sandbox.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17320"/>
          </a:xfrm>
          <a:prstGeom prst="rect">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4173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56032"/>
            <a:ext cx="10972800" cy="274320"/>
          </a:xfrm>
          <a:prstGeom prst="rect">
            <a:avLst/>
          </a:prstGeom>
          <a:noFill/>
        </p:spPr>
        <p:txBody>
          <a:bodyPr wrap="square" anchor="t" lIns="0" rIns="0" tIns="0" bIns="0">
            <a:spAutoFit/>
          </a:bodyPr>
          <a:lstStyle/>
          <a:p>
            <a:pPr algn="l">
              <a:defRPr sz="1300" b="1">
                <a:solidFill>
                  <a:srgbClr val="93C5FD"/>
                </a:solidFill>
                <a:latin typeface="Calibri"/>
              </a:defRPr>
            </a:pPr>
            <a:r>
              <a:t>DESIGN DECISION 4</a:t>
            </a:r>
          </a:p>
        </p:txBody>
      </p:sp>
      <p:sp>
        <p:nvSpPr>
          <p:cNvPr id="6" name="TextBox 5"/>
          <p:cNvSpPr txBox="1"/>
          <p:nvPr/>
        </p:nvSpPr>
        <p:spPr>
          <a:xfrm>
            <a:off x="548640" y="566928"/>
            <a:ext cx="11064240" cy="731520"/>
          </a:xfrm>
          <a:prstGeom prst="rect">
            <a:avLst/>
          </a:prstGeom>
          <a:noFill/>
        </p:spPr>
        <p:txBody>
          <a:bodyPr wrap="square" anchor="t" lIns="0" rIns="0" tIns="0" bIns="0">
            <a:spAutoFit/>
          </a:bodyPr>
          <a:lstStyle/>
          <a:p>
            <a:pPr algn="l">
              <a:defRPr sz="2800" b="1">
                <a:solidFill>
                  <a:srgbClr val="FFFFFF"/>
                </a:solidFill>
                <a:latin typeface="Calibri"/>
              </a:defRPr>
            </a:pPr>
            <a:r>
              <a:t>Three levels, each changes something different</a:t>
            </a:r>
          </a:p>
        </p:txBody>
      </p:sp>
      <p:sp>
        <p:nvSpPr>
          <p:cNvPr id="7" name="TextBox 6"/>
          <p:cNvSpPr txBox="1"/>
          <p:nvPr/>
        </p:nvSpPr>
        <p:spPr>
          <a:xfrm>
            <a:off x="548640" y="6473952"/>
            <a:ext cx="5486400" cy="228600"/>
          </a:xfrm>
          <a:prstGeom prst="rect">
            <a:avLst/>
          </a:prstGeom>
          <a:noFill/>
        </p:spPr>
        <p:txBody>
          <a:bodyPr wrap="square" anchor="t" lIns="0" rIns="0" tIns="0" bIns="0">
            <a:spAutoFit/>
          </a:bodyPr>
          <a:lstStyle/>
          <a:p>
            <a:pPr algn="l">
              <a:defRPr sz="1100" b="1">
                <a:solidFill>
                  <a:srgbClr val="64748B"/>
                </a:solidFill>
                <a:latin typeface="Calibri"/>
              </a:defRPr>
            </a:pPr>
            <a:r>
              <a:t>EvoMarks</a:t>
            </a:r>
          </a:p>
        </p:txBody>
      </p:sp>
      <p:sp>
        <p:nvSpPr>
          <p:cNvPr id="8" name="TextBox 7"/>
          <p:cNvSpPr txBox="1"/>
          <p:nvPr/>
        </p:nvSpPr>
        <p:spPr>
          <a:xfrm>
            <a:off x="10728655" y="6473952"/>
            <a:ext cx="914400" cy="228600"/>
          </a:xfrm>
          <a:prstGeom prst="rect">
            <a:avLst/>
          </a:prstGeom>
          <a:noFill/>
        </p:spPr>
        <p:txBody>
          <a:bodyPr wrap="square" anchor="t" lIns="0" rIns="0" tIns="0" bIns="0">
            <a:spAutoFit/>
          </a:bodyPr>
          <a:lstStyle/>
          <a:p>
            <a:pPr algn="r">
              <a:defRPr sz="1100" b="0">
                <a:solidFill>
                  <a:srgbClr val="64748B"/>
                </a:solidFill>
                <a:latin typeface="Calibri"/>
              </a:defRPr>
            </a:pPr>
            <a:r>
              <a:t>6 / 13</a:t>
            </a:r>
          </a:p>
        </p:txBody>
      </p:sp>
      <p:sp>
        <p:nvSpPr>
          <p:cNvPr id="9" name="Rounded Rectangle 8"/>
          <p:cNvSpPr/>
          <p:nvPr/>
        </p:nvSpPr>
        <p:spPr>
          <a:xfrm>
            <a:off x="548640" y="17830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9476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4672" y="26586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1</a:t>
            </a:r>
          </a:p>
        </p:txBody>
      </p:sp>
      <p:sp>
        <p:nvSpPr>
          <p:cNvPr id="12" name="TextBox 11"/>
          <p:cNvSpPr txBox="1"/>
          <p:nvPr/>
        </p:nvSpPr>
        <p:spPr>
          <a:xfrm>
            <a:off x="1417319" y="1892807"/>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Level 0 changes the model's weights: retrain on sheets the sum check trusts, keep only if a held-out set improves.</a:t>
            </a:r>
          </a:p>
        </p:txBody>
      </p:sp>
      <p:sp>
        <p:nvSpPr>
          <p:cNvPr id="13" name="Rounded Rectangle 12"/>
          <p:cNvSpPr/>
          <p:nvPr/>
        </p:nvSpPr>
        <p:spPr>
          <a:xfrm>
            <a:off x="6208776" y="17830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08776" y="19476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4808" y="26586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2</a:t>
            </a:r>
          </a:p>
        </p:txBody>
      </p:sp>
      <p:sp>
        <p:nvSpPr>
          <p:cNvPr id="16" name="TextBox 15"/>
          <p:cNvSpPr txBox="1"/>
          <p:nvPr/>
        </p:nvSpPr>
        <p:spPr>
          <a:xfrm>
            <a:off x="7077456" y="1892807"/>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Level 1 changes the pipeline's code: the improver proposes an edit, the fixed evaluator accepts or rejects it.</a:t>
            </a:r>
          </a:p>
        </p:txBody>
      </p:sp>
      <p:sp>
        <p:nvSpPr>
          <p:cNvPr id="17" name="Rounded Rectangle 16"/>
          <p:cNvSpPr/>
          <p:nvPr/>
        </p:nvSpPr>
        <p:spPr>
          <a:xfrm>
            <a:off x="548640" y="41833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3479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4672" y="50589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3</a:t>
            </a:r>
          </a:p>
        </p:txBody>
      </p:sp>
      <p:sp>
        <p:nvSpPr>
          <p:cNvPr id="20" name="TextBox 19"/>
          <p:cNvSpPr txBox="1"/>
          <p:nvPr/>
        </p:nvSpPr>
        <p:spPr>
          <a:xfrm>
            <a:off x="1417319" y="4293108"/>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Level 2 changes the improver itself: it edits its own settings and is kept only if its edits help the pipeline more than before.</a:t>
            </a:r>
          </a:p>
        </p:txBody>
      </p:sp>
      <p:sp>
        <p:nvSpPr>
          <p:cNvPr id="21" name="Rounded Rectangle 20"/>
          <p:cNvSpPr/>
          <p:nvPr/>
        </p:nvSpPr>
        <p:spPr>
          <a:xfrm>
            <a:off x="6208776" y="41833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08776" y="43479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64808" y="50589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4</a:t>
            </a:r>
          </a:p>
        </p:txBody>
      </p:sp>
      <p:sp>
        <p:nvSpPr>
          <p:cNvPr id="24" name="TextBox 23"/>
          <p:cNvSpPr txBox="1"/>
          <p:nvPr/>
        </p:nvSpPr>
        <p:spPr>
          <a:xfrm>
            <a:off x="7077456" y="4293108"/>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Each level is judged by something it cannot edit, using data the level below never saw.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17320"/>
          </a:xfrm>
          <a:prstGeom prst="rect">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4173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56032"/>
            <a:ext cx="10972800" cy="274320"/>
          </a:xfrm>
          <a:prstGeom prst="rect">
            <a:avLst/>
          </a:prstGeom>
          <a:noFill/>
        </p:spPr>
        <p:txBody>
          <a:bodyPr wrap="square" anchor="t" lIns="0" rIns="0" tIns="0" bIns="0">
            <a:spAutoFit/>
          </a:bodyPr>
          <a:lstStyle/>
          <a:p>
            <a:pPr algn="l">
              <a:defRPr sz="1300" b="1">
                <a:solidFill>
                  <a:srgbClr val="93C5FD"/>
                </a:solidFill>
                <a:latin typeface="Calibri"/>
              </a:defRPr>
            </a:pPr>
            <a:r>
              <a:t>RESULTS: LEVEL 0</a:t>
            </a:r>
          </a:p>
        </p:txBody>
      </p:sp>
      <p:sp>
        <p:nvSpPr>
          <p:cNvPr id="6" name="TextBox 5"/>
          <p:cNvSpPr txBox="1"/>
          <p:nvPr/>
        </p:nvSpPr>
        <p:spPr>
          <a:xfrm>
            <a:off x="548640" y="566928"/>
            <a:ext cx="11064240" cy="731520"/>
          </a:xfrm>
          <a:prstGeom prst="rect">
            <a:avLst/>
          </a:prstGeom>
          <a:noFill/>
        </p:spPr>
        <p:txBody>
          <a:bodyPr wrap="square" anchor="t" lIns="0" rIns="0" tIns="0" bIns="0">
            <a:spAutoFit/>
          </a:bodyPr>
          <a:lstStyle/>
          <a:p>
            <a:pPr algn="l">
              <a:defRPr sz="2800" b="1">
                <a:solidFill>
                  <a:srgbClr val="FFFFFF"/>
                </a:solidFill>
                <a:latin typeface="Calibri"/>
              </a:defRPr>
            </a:pPr>
            <a:r>
              <a:t>A rule beats the model's own confidence</a:t>
            </a:r>
          </a:p>
        </p:txBody>
      </p:sp>
      <p:sp>
        <p:nvSpPr>
          <p:cNvPr id="7" name="TextBox 6"/>
          <p:cNvSpPr txBox="1"/>
          <p:nvPr/>
        </p:nvSpPr>
        <p:spPr>
          <a:xfrm>
            <a:off x="548640" y="6473952"/>
            <a:ext cx="5486400" cy="228600"/>
          </a:xfrm>
          <a:prstGeom prst="rect">
            <a:avLst/>
          </a:prstGeom>
          <a:noFill/>
        </p:spPr>
        <p:txBody>
          <a:bodyPr wrap="square" anchor="t" lIns="0" rIns="0" tIns="0" bIns="0">
            <a:spAutoFit/>
          </a:bodyPr>
          <a:lstStyle/>
          <a:p>
            <a:pPr algn="l">
              <a:defRPr sz="1100" b="1">
                <a:solidFill>
                  <a:srgbClr val="64748B"/>
                </a:solidFill>
                <a:latin typeface="Calibri"/>
              </a:defRPr>
            </a:pPr>
            <a:r>
              <a:t>EvoMarks</a:t>
            </a:r>
          </a:p>
        </p:txBody>
      </p:sp>
      <p:sp>
        <p:nvSpPr>
          <p:cNvPr id="8" name="TextBox 7"/>
          <p:cNvSpPr txBox="1"/>
          <p:nvPr/>
        </p:nvSpPr>
        <p:spPr>
          <a:xfrm>
            <a:off x="10728655" y="6473952"/>
            <a:ext cx="914400" cy="228600"/>
          </a:xfrm>
          <a:prstGeom prst="rect">
            <a:avLst/>
          </a:prstGeom>
          <a:noFill/>
        </p:spPr>
        <p:txBody>
          <a:bodyPr wrap="square" anchor="t" lIns="0" rIns="0" tIns="0" bIns="0">
            <a:spAutoFit/>
          </a:bodyPr>
          <a:lstStyle/>
          <a:p>
            <a:pPr algn="r">
              <a:defRPr sz="1100" b="0">
                <a:solidFill>
                  <a:srgbClr val="64748B"/>
                </a:solidFill>
                <a:latin typeface="Calibri"/>
              </a:defRPr>
            </a:pPr>
            <a:r>
              <a:t>7 / 13</a:t>
            </a:r>
          </a:p>
        </p:txBody>
      </p:sp>
      <p:sp>
        <p:nvSpPr>
          <p:cNvPr id="9" name="Rounded Rectangle 8"/>
          <p:cNvSpPr/>
          <p:nvPr/>
        </p:nvSpPr>
        <p:spPr>
          <a:xfrm>
            <a:off x="548640" y="1783080"/>
            <a:ext cx="5486400" cy="140208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947672"/>
            <a:ext cx="82296" cy="10728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4672" y="2273807"/>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1</a:t>
            </a:r>
          </a:p>
        </p:txBody>
      </p:sp>
      <p:sp>
        <p:nvSpPr>
          <p:cNvPr id="12" name="TextBox 11"/>
          <p:cNvSpPr txBox="1"/>
          <p:nvPr/>
        </p:nvSpPr>
        <p:spPr>
          <a:xfrm>
            <a:off x="1417319" y="1892807"/>
            <a:ext cx="4389120" cy="1182624"/>
          </a:xfrm>
          <a:prstGeom prst="rect">
            <a:avLst/>
          </a:prstGeom>
          <a:noFill/>
        </p:spPr>
        <p:txBody>
          <a:bodyPr wrap="square" anchor="ctr" lIns="0" rIns="0" tIns="0" bIns="0">
            <a:spAutoFit/>
          </a:bodyPr>
          <a:lstStyle/>
          <a:p>
            <a:pPr algn="l">
              <a:defRPr sz="1700" b="0">
                <a:solidFill>
                  <a:srgbClr val="1F2937"/>
                </a:solidFill>
                <a:latin typeface="Calibri"/>
              </a:defRPr>
            </a:pPr>
            <a:r>
              <a:t>Choosing training sheets by the sum check gives cleaner pseudo-labels than choosing by the model's confidence.</a:t>
            </a:r>
          </a:p>
        </p:txBody>
      </p:sp>
      <p:sp>
        <p:nvSpPr>
          <p:cNvPr id="13" name="Rounded Rectangle 12"/>
          <p:cNvSpPr/>
          <p:nvPr/>
        </p:nvSpPr>
        <p:spPr>
          <a:xfrm>
            <a:off x="548640" y="3368040"/>
            <a:ext cx="5486400" cy="140208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532632"/>
            <a:ext cx="82296" cy="10728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4672" y="385876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2</a:t>
            </a:r>
          </a:p>
        </p:txBody>
      </p:sp>
      <p:sp>
        <p:nvSpPr>
          <p:cNvPr id="16" name="TextBox 15"/>
          <p:cNvSpPr txBox="1"/>
          <p:nvPr/>
        </p:nvSpPr>
        <p:spPr>
          <a:xfrm>
            <a:off x="1417319" y="3477768"/>
            <a:ext cx="4389120" cy="1182624"/>
          </a:xfrm>
          <a:prstGeom prst="rect">
            <a:avLst/>
          </a:prstGeom>
          <a:noFill/>
        </p:spPr>
        <p:txBody>
          <a:bodyPr wrap="square" anchor="ctr" lIns="0" rIns="0" tIns="0" bIns="0">
            <a:spAutoFit/>
          </a:bodyPr>
          <a:lstStyle/>
          <a:p>
            <a:pPr algn="l">
              <a:defRPr sz="1700" b="0">
                <a:solidFill>
                  <a:srgbClr val="1F2937"/>
                </a:solidFill>
                <a:latin typeface="Calibri"/>
              </a:defRPr>
            </a:pPr>
            <a:r>
              <a:t>Confidence-based selection feeds the model its own mistakes (confirmation bias). The rule does not.</a:t>
            </a:r>
          </a:p>
        </p:txBody>
      </p:sp>
      <p:sp>
        <p:nvSpPr>
          <p:cNvPr id="17" name="Rounded Rectangle 16"/>
          <p:cNvSpPr/>
          <p:nvPr/>
        </p:nvSpPr>
        <p:spPr>
          <a:xfrm>
            <a:off x="548640" y="4952999"/>
            <a:ext cx="5486400" cy="140208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5117591"/>
            <a:ext cx="82296" cy="10728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4672" y="544372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3</a:t>
            </a:r>
          </a:p>
        </p:txBody>
      </p:sp>
      <p:sp>
        <p:nvSpPr>
          <p:cNvPr id="20" name="TextBox 19"/>
          <p:cNvSpPr txBox="1"/>
          <p:nvPr/>
        </p:nvSpPr>
        <p:spPr>
          <a:xfrm>
            <a:off x="1417319" y="5062728"/>
            <a:ext cx="4389120" cy="1182624"/>
          </a:xfrm>
          <a:prstGeom prst="rect">
            <a:avLst/>
          </a:prstGeom>
          <a:noFill/>
        </p:spPr>
        <p:txBody>
          <a:bodyPr wrap="square" anchor="ctr" lIns="0" rIns="0" tIns="0" bIns="0">
            <a:spAutoFit/>
          </a:bodyPr>
          <a:lstStyle/>
          <a:p>
            <a:pPr algn="l">
              <a:defRPr sz="1700" b="0">
                <a:solidFill>
                  <a:srgbClr val="1F2937"/>
                </a:solidFill>
                <a:latin typeface="Calibri"/>
              </a:defRPr>
            </a:pPr>
            <a:r>
              <a:t>Accuracy rose from 0.887 to 0.944 on unseen test writers, using no extra labels.</a:t>
            </a:r>
          </a:p>
        </p:txBody>
      </p:sp>
      <p:sp>
        <p:nvSpPr>
          <p:cNvPr id="21" name="Rounded Rectangle 20"/>
          <p:cNvSpPr/>
          <p:nvPr/>
        </p:nvSpPr>
        <p:spPr>
          <a:xfrm>
            <a:off x="6309360" y="1783080"/>
            <a:ext cx="5349240" cy="219456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l0_verifier_vs_confidence.png"/>
          <p:cNvPicPr>
            <a:picLocks noChangeAspect="1"/>
          </p:cNvPicPr>
          <p:nvPr/>
        </p:nvPicPr>
        <p:blipFill>
          <a:blip r:embed="rId2"/>
          <a:stretch>
            <a:fillRect/>
          </a:stretch>
        </p:blipFill>
        <p:spPr>
          <a:xfrm>
            <a:off x="6400800" y="1986265"/>
            <a:ext cx="5166360" cy="1788189"/>
          </a:xfrm>
          <a:prstGeom prst="rect">
            <a:avLst/>
          </a:prstGeom>
        </p:spPr>
      </p:pic>
      <p:sp>
        <p:nvSpPr>
          <p:cNvPr id="23" name="Rounded Rectangle 22"/>
          <p:cNvSpPr/>
          <p:nvPr/>
        </p:nvSpPr>
        <p:spPr>
          <a:xfrm>
            <a:off x="6309360" y="4160520"/>
            <a:ext cx="5349240" cy="219456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l0_accuracy_by_round.png"/>
          <p:cNvPicPr>
            <a:picLocks noChangeAspect="1"/>
          </p:cNvPicPr>
          <p:nvPr/>
        </p:nvPicPr>
        <p:blipFill>
          <a:blip r:embed="rId3"/>
          <a:stretch>
            <a:fillRect/>
          </a:stretch>
        </p:blipFill>
        <p:spPr>
          <a:xfrm>
            <a:off x="7333370" y="4251960"/>
            <a:ext cx="3301218" cy="201167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17320"/>
          </a:xfrm>
          <a:prstGeom prst="rect">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4173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56032"/>
            <a:ext cx="10972800" cy="274320"/>
          </a:xfrm>
          <a:prstGeom prst="rect">
            <a:avLst/>
          </a:prstGeom>
          <a:noFill/>
        </p:spPr>
        <p:txBody>
          <a:bodyPr wrap="square" anchor="t" lIns="0" rIns="0" tIns="0" bIns="0">
            <a:spAutoFit/>
          </a:bodyPr>
          <a:lstStyle/>
          <a:p>
            <a:pPr algn="l">
              <a:defRPr sz="1300" b="1">
                <a:solidFill>
                  <a:srgbClr val="93C5FD"/>
                </a:solidFill>
                <a:latin typeface="Calibri"/>
              </a:defRPr>
            </a:pPr>
            <a:r>
              <a:t>RESULTS: LEVEL 1</a:t>
            </a:r>
          </a:p>
        </p:txBody>
      </p:sp>
      <p:sp>
        <p:nvSpPr>
          <p:cNvPr id="6" name="TextBox 5"/>
          <p:cNvSpPr txBox="1"/>
          <p:nvPr/>
        </p:nvSpPr>
        <p:spPr>
          <a:xfrm>
            <a:off x="548640" y="566928"/>
            <a:ext cx="11064240" cy="731520"/>
          </a:xfrm>
          <a:prstGeom prst="rect">
            <a:avLst/>
          </a:prstGeom>
          <a:noFill/>
        </p:spPr>
        <p:txBody>
          <a:bodyPr wrap="square" anchor="t" lIns="0" rIns="0" tIns="0" bIns="0">
            <a:spAutoFit/>
          </a:bodyPr>
          <a:lstStyle/>
          <a:p>
            <a:pPr algn="l">
              <a:defRPr sz="2800" b="1">
                <a:solidFill>
                  <a:srgbClr val="FFFFFF"/>
                </a:solidFill>
                <a:latin typeface="Calibri"/>
              </a:defRPr>
            </a:pPr>
            <a:r>
              <a:t>Mostly rejection; one small gain, honestly measured</a:t>
            </a:r>
          </a:p>
        </p:txBody>
      </p:sp>
      <p:sp>
        <p:nvSpPr>
          <p:cNvPr id="7" name="TextBox 6"/>
          <p:cNvSpPr txBox="1"/>
          <p:nvPr/>
        </p:nvSpPr>
        <p:spPr>
          <a:xfrm>
            <a:off x="548640" y="6473952"/>
            <a:ext cx="5486400" cy="228600"/>
          </a:xfrm>
          <a:prstGeom prst="rect">
            <a:avLst/>
          </a:prstGeom>
          <a:noFill/>
        </p:spPr>
        <p:txBody>
          <a:bodyPr wrap="square" anchor="t" lIns="0" rIns="0" tIns="0" bIns="0">
            <a:spAutoFit/>
          </a:bodyPr>
          <a:lstStyle/>
          <a:p>
            <a:pPr algn="l">
              <a:defRPr sz="1100" b="1">
                <a:solidFill>
                  <a:srgbClr val="64748B"/>
                </a:solidFill>
                <a:latin typeface="Calibri"/>
              </a:defRPr>
            </a:pPr>
            <a:r>
              <a:t>EvoMarks</a:t>
            </a:r>
          </a:p>
        </p:txBody>
      </p:sp>
      <p:sp>
        <p:nvSpPr>
          <p:cNvPr id="8" name="TextBox 7"/>
          <p:cNvSpPr txBox="1"/>
          <p:nvPr/>
        </p:nvSpPr>
        <p:spPr>
          <a:xfrm>
            <a:off x="10728655" y="6473952"/>
            <a:ext cx="914400" cy="228600"/>
          </a:xfrm>
          <a:prstGeom prst="rect">
            <a:avLst/>
          </a:prstGeom>
          <a:noFill/>
        </p:spPr>
        <p:txBody>
          <a:bodyPr wrap="square" anchor="t" lIns="0" rIns="0" tIns="0" bIns="0">
            <a:spAutoFit/>
          </a:bodyPr>
          <a:lstStyle/>
          <a:p>
            <a:pPr algn="r">
              <a:defRPr sz="1100" b="0">
                <a:solidFill>
                  <a:srgbClr val="64748B"/>
                </a:solidFill>
                <a:latin typeface="Calibri"/>
              </a:defRPr>
            </a:pPr>
            <a:r>
              <a:t>8 / 13</a:t>
            </a:r>
          </a:p>
        </p:txBody>
      </p:sp>
      <p:sp>
        <p:nvSpPr>
          <p:cNvPr id="9" name="Rounded Rectangle 8"/>
          <p:cNvSpPr/>
          <p:nvPr/>
        </p:nvSpPr>
        <p:spPr>
          <a:xfrm>
            <a:off x="548640" y="1783080"/>
            <a:ext cx="5486400" cy="140208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947672"/>
            <a:ext cx="82296" cy="10728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4672" y="2273807"/>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1</a:t>
            </a:r>
          </a:p>
        </p:txBody>
      </p:sp>
      <p:sp>
        <p:nvSpPr>
          <p:cNvPr id="12" name="TextBox 11"/>
          <p:cNvSpPr txBox="1"/>
          <p:nvPr/>
        </p:nvSpPr>
        <p:spPr>
          <a:xfrm>
            <a:off x="1417319" y="1892807"/>
            <a:ext cx="4389120" cy="1182624"/>
          </a:xfrm>
          <a:prstGeom prst="rect">
            <a:avLst/>
          </a:prstGeom>
          <a:noFill/>
        </p:spPr>
        <p:txBody>
          <a:bodyPr wrap="square" anchor="ctr" lIns="0" rIns="0" tIns="0" bIns="0">
            <a:spAutoFit/>
          </a:bodyPr>
          <a:lstStyle/>
          <a:p>
            <a:pPr algn="l">
              <a:defRPr sz="1700" b="0">
                <a:solidFill>
                  <a:srgbClr val="1F2937"/>
                </a:solidFill>
                <a:latin typeface="Calibri"/>
              </a:defRPr>
            </a:pPr>
            <a:r>
              <a:t>Of 20 proposed code edits, 2 were accepted and 18 were rejected. Most random edits make things worse.</a:t>
            </a:r>
          </a:p>
        </p:txBody>
      </p:sp>
      <p:sp>
        <p:nvSpPr>
          <p:cNvPr id="13" name="Rounded Rectangle 12"/>
          <p:cNvSpPr/>
          <p:nvPr/>
        </p:nvSpPr>
        <p:spPr>
          <a:xfrm>
            <a:off x="548640" y="3368040"/>
            <a:ext cx="5486400" cy="140208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532632"/>
            <a:ext cx="82296" cy="10728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4672" y="385876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2</a:t>
            </a:r>
          </a:p>
        </p:txBody>
      </p:sp>
      <p:sp>
        <p:nvSpPr>
          <p:cNvPr id="16" name="TextBox 15"/>
          <p:cNvSpPr txBox="1"/>
          <p:nvPr/>
        </p:nvSpPr>
        <p:spPr>
          <a:xfrm>
            <a:off x="1417319" y="3477768"/>
            <a:ext cx="4389120" cy="1182624"/>
          </a:xfrm>
          <a:prstGeom prst="rect">
            <a:avLst/>
          </a:prstGeom>
          <a:noFill/>
        </p:spPr>
        <p:txBody>
          <a:bodyPr wrap="square" anchor="ctr" lIns="0" rIns="0" tIns="0" bIns="0">
            <a:spAutoFit/>
          </a:bodyPr>
          <a:lstStyle/>
          <a:p>
            <a:pPr algn="l">
              <a:defRPr sz="1700" b="0">
                <a:solidFill>
                  <a:srgbClr val="1F2937"/>
                </a:solidFill>
                <a:latin typeface="Calibri"/>
              </a:defRPr>
            </a:pPr>
            <a:r>
              <a:t>We measured the noise of the gate itself: retraining the same version varies more than the acceptance margin.</a:t>
            </a:r>
          </a:p>
        </p:txBody>
      </p:sp>
      <p:sp>
        <p:nvSpPr>
          <p:cNvPr id="17" name="Rounded Rectangle 16"/>
          <p:cNvSpPr/>
          <p:nvPr/>
        </p:nvSpPr>
        <p:spPr>
          <a:xfrm>
            <a:off x="548640" y="4952999"/>
            <a:ext cx="5486400" cy="140208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5117591"/>
            <a:ext cx="82296" cy="10728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4672" y="544372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3</a:t>
            </a:r>
          </a:p>
        </p:txBody>
      </p:sp>
      <p:sp>
        <p:nvSpPr>
          <p:cNvPr id="20" name="TextBox 19"/>
          <p:cNvSpPr txBox="1"/>
          <p:nvPr/>
        </p:nvSpPr>
        <p:spPr>
          <a:xfrm>
            <a:off x="1417319" y="5062728"/>
            <a:ext cx="4389120" cy="1182624"/>
          </a:xfrm>
          <a:prstGeom prst="rect">
            <a:avLst/>
          </a:prstGeom>
          <a:noFill/>
        </p:spPr>
        <p:txBody>
          <a:bodyPr wrap="square" anchor="ctr" lIns="0" rIns="0" tIns="0" bIns="0">
            <a:spAutoFit/>
          </a:bodyPr>
          <a:lstStyle/>
          <a:p>
            <a:pPr algn="l">
              <a:defRPr sz="1700" b="0">
                <a:solidFill>
                  <a:srgbClr val="1F2937"/>
                </a:solidFill>
                <a:latin typeface="Calibri"/>
              </a:defRPr>
            </a:pPr>
            <a:r>
              <a:t>So we compared versions seed by seed. The gain is small, probably real, and disappears at full training budget.</a:t>
            </a:r>
          </a:p>
        </p:txBody>
      </p:sp>
      <p:sp>
        <p:nvSpPr>
          <p:cNvPr id="21" name="Rounded Rectangle 20"/>
          <p:cNvSpPr/>
          <p:nvPr/>
        </p:nvSpPr>
        <p:spPr>
          <a:xfrm>
            <a:off x="6309360" y="1783080"/>
            <a:ext cx="5349240" cy="219456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l1_evolution_timeline.png"/>
          <p:cNvPicPr>
            <a:picLocks noChangeAspect="1"/>
          </p:cNvPicPr>
          <p:nvPr/>
        </p:nvPicPr>
        <p:blipFill>
          <a:blip r:embed="rId2"/>
          <a:stretch>
            <a:fillRect/>
          </a:stretch>
        </p:blipFill>
        <p:spPr>
          <a:xfrm>
            <a:off x="7075463" y="1874519"/>
            <a:ext cx="3817033" cy="2011679"/>
          </a:xfrm>
          <a:prstGeom prst="rect">
            <a:avLst/>
          </a:prstGeom>
        </p:spPr>
      </p:pic>
      <p:sp>
        <p:nvSpPr>
          <p:cNvPr id="23" name="Rounded Rectangle 22"/>
          <p:cNvSpPr/>
          <p:nvPr/>
        </p:nvSpPr>
        <p:spPr>
          <a:xfrm>
            <a:off x="6309360" y="4160520"/>
            <a:ext cx="5349240" cy="219456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l1_edit_effectiveness.png"/>
          <p:cNvPicPr>
            <a:picLocks noChangeAspect="1"/>
          </p:cNvPicPr>
          <p:nvPr/>
        </p:nvPicPr>
        <p:blipFill>
          <a:blip r:embed="rId3"/>
          <a:stretch>
            <a:fillRect/>
          </a:stretch>
        </p:blipFill>
        <p:spPr>
          <a:xfrm>
            <a:off x="6400800" y="4320026"/>
            <a:ext cx="5166359" cy="1875547"/>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17320"/>
          </a:xfrm>
          <a:prstGeom prst="rect">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4173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56032"/>
            <a:ext cx="10972800" cy="274320"/>
          </a:xfrm>
          <a:prstGeom prst="rect">
            <a:avLst/>
          </a:prstGeom>
          <a:noFill/>
        </p:spPr>
        <p:txBody>
          <a:bodyPr wrap="square" anchor="t" lIns="0" rIns="0" tIns="0" bIns="0">
            <a:spAutoFit/>
          </a:bodyPr>
          <a:lstStyle/>
          <a:p>
            <a:pPr algn="l">
              <a:defRPr sz="1300" b="1">
                <a:solidFill>
                  <a:srgbClr val="93C5FD"/>
                </a:solidFill>
                <a:latin typeface="Calibri"/>
              </a:defRPr>
            </a:pPr>
            <a:r>
              <a:t>RESULTS: LEVEL 2</a:t>
            </a:r>
          </a:p>
        </p:txBody>
      </p:sp>
      <p:sp>
        <p:nvSpPr>
          <p:cNvPr id="6" name="TextBox 5"/>
          <p:cNvSpPr txBox="1"/>
          <p:nvPr/>
        </p:nvSpPr>
        <p:spPr>
          <a:xfrm>
            <a:off x="548640" y="566928"/>
            <a:ext cx="11064240" cy="731520"/>
          </a:xfrm>
          <a:prstGeom prst="rect">
            <a:avLst/>
          </a:prstGeom>
          <a:noFill/>
        </p:spPr>
        <p:txBody>
          <a:bodyPr wrap="square" anchor="t" lIns="0" rIns="0" tIns="0" bIns="0">
            <a:spAutoFit/>
          </a:bodyPr>
          <a:lstStyle/>
          <a:p>
            <a:pPr algn="l">
              <a:defRPr sz="2800" b="1">
                <a:solidFill>
                  <a:srgbClr val="FFFFFF"/>
                </a:solidFill>
                <a:latin typeface="Calibri"/>
              </a:defRPr>
            </a:pPr>
            <a:r>
              <a:t>A null result, and we know why</a:t>
            </a:r>
          </a:p>
        </p:txBody>
      </p:sp>
      <p:sp>
        <p:nvSpPr>
          <p:cNvPr id="7" name="TextBox 6"/>
          <p:cNvSpPr txBox="1"/>
          <p:nvPr/>
        </p:nvSpPr>
        <p:spPr>
          <a:xfrm>
            <a:off x="548640" y="6473952"/>
            <a:ext cx="5486400" cy="228600"/>
          </a:xfrm>
          <a:prstGeom prst="rect">
            <a:avLst/>
          </a:prstGeom>
          <a:noFill/>
        </p:spPr>
        <p:txBody>
          <a:bodyPr wrap="square" anchor="t" lIns="0" rIns="0" tIns="0" bIns="0">
            <a:spAutoFit/>
          </a:bodyPr>
          <a:lstStyle/>
          <a:p>
            <a:pPr algn="l">
              <a:defRPr sz="1100" b="1">
                <a:solidFill>
                  <a:srgbClr val="64748B"/>
                </a:solidFill>
                <a:latin typeface="Calibri"/>
              </a:defRPr>
            </a:pPr>
            <a:r>
              <a:t>EvoMarks</a:t>
            </a:r>
          </a:p>
        </p:txBody>
      </p:sp>
      <p:sp>
        <p:nvSpPr>
          <p:cNvPr id="8" name="TextBox 7"/>
          <p:cNvSpPr txBox="1"/>
          <p:nvPr/>
        </p:nvSpPr>
        <p:spPr>
          <a:xfrm>
            <a:off x="10728655" y="6473952"/>
            <a:ext cx="914400" cy="228600"/>
          </a:xfrm>
          <a:prstGeom prst="rect">
            <a:avLst/>
          </a:prstGeom>
          <a:noFill/>
        </p:spPr>
        <p:txBody>
          <a:bodyPr wrap="square" anchor="t" lIns="0" rIns="0" tIns="0" bIns="0">
            <a:spAutoFit/>
          </a:bodyPr>
          <a:lstStyle/>
          <a:p>
            <a:pPr algn="r">
              <a:defRPr sz="1100" b="0">
                <a:solidFill>
                  <a:srgbClr val="64748B"/>
                </a:solidFill>
                <a:latin typeface="Calibri"/>
              </a:defRPr>
            </a:pPr>
            <a:r>
              <a:t>9 / 13</a:t>
            </a:r>
          </a:p>
        </p:txBody>
      </p:sp>
      <p:sp>
        <p:nvSpPr>
          <p:cNvPr id="9" name="Rounded Rectangle 8"/>
          <p:cNvSpPr/>
          <p:nvPr/>
        </p:nvSpPr>
        <p:spPr>
          <a:xfrm>
            <a:off x="548640" y="1783080"/>
            <a:ext cx="5486400" cy="140208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947672"/>
            <a:ext cx="82296" cy="10728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4672" y="2273807"/>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1</a:t>
            </a:r>
          </a:p>
        </p:txBody>
      </p:sp>
      <p:sp>
        <p:nvSpPr>
          <p:cNvPr id="12" name="TextBox 11"/>
          <p:cNvSpPr txBox="1"/>
          <p:nvPr/>
        </p:nvSpPr>
        <p:spPr>
          <a:xfrm>
            <a:off x="1417319" y="1892807"/>
            <a:ext cx="4389120" cy="1182624"/>
          </a:xfrm>
          <a:prstGeom prst="rect">
            <a:avLst/>
          </a:prstGeom>
          <a:noFill/>
        </p:spPr>
        <p:txBody>
          <a:bodyPr wrap="square" anchor="ctr" lIns="0" rIns="0" tIns="0" bIns="0">
            <a:spAutoFit/>
          </a:bodyPr>
          <a:lstStyle/>
          <a:p>
            <a:pPr algn="l">
              <a:defRPr sz="1700" b="0">
                <a:solidFill>
                  <a:srgbClr val="1F2937"/>
                </a:solidFill>
                <a:latin typeface="Calibri"/>
              </a:defRPr>
            </a:pPr>
            <a:r>
              <a:t>The improver proposed 3 edits to itself and none were accepted, so Level 1+2 equals Level 1 alone.</a:t>
            </a:r>
          </a:p>
        </p:txBody>
      </p:sp>
      <p:sp>
        <p:nvSpPr>
          <p:cNvPr id="13" name="Rounded Rectangle 12"/>
          <p:cNvSpPr/>
          <p:nvPr/>
        </p:nvSpPr>
        <p:spPr>
          <a:xfrm>
            <a:off x="548640" y="3368040"/>
            <a:ext cx="5486400" cy="140208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532632"/>
            <a:ext cx="82296" cy="10728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4672" y="385876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2</a:t>
            </a:r>
          </a:p>
        </p:txBody>
      </p:sp>
      <p:sp>
        <p:nvSpPr>
          <p:cNvPr id="16" name="TextBox 15"/>
          <p:cNvSpPr txBox="1"/>
          <p:nvPr/>
        </p:nvSpPr>
        <p:spPr>
          <a:xfrm>
            <a:off x="1417319" y="3477768"/>
            <a:ext cx="4389120" cy="1182624"/>
          </a:xfrm>
          <a:prstGeom prst="rect">
            <a:avLst/>
          </a:prstGeom>
          <a:noFill/>
        </p:spPr>
        <p:txBody>
          <a:bodyPr wrap="square" anchor="ctr" lIns="0" rIns="0" tIns="0" bIns="0">
            <a:spAutoFit/>
          </a:bodyPr>
          <a:lstStyle/>
          <a:p>
            <a:pPr algn="l">
              <a:defRPr sz="1700" b="0">
                <a:solidFill>
                  <a:srgbClr val="1F2937"/>
                </a:solidFill>
                <a:latin typeface="Calibri"/>
              </a:defRPr>
            </a:pPr>
            <a:r>
              <a:t>The gate measures usefulness from one fixed parent, so some edits (such as parent selection) cannot change the score.</a:t>
            </a:r>
          </a:p>
        </p:txBody>
      </p:sp>
      <p:sp>
        <p:nvSpPr>
          <p:cNvPr id="17" name="Rounded Rectangle 16"/>
          <p:cNvSpPr/>
          <p:nvPr/>
        </p:nvSpPr>
        <p:spPr>
          <a:xfrm>
            <a:off x="548640" y="4952999"/>
            <a:ext cx="5486400" cy="140208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5117591"/>
            <a:ext cx="82296" cy="10728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4672" y="544372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3</a:t>
            </a:r>
          </a:p>
        </p:txBody>
      </p:sp>
      <p:sp>
        <p:nvSpPr>
          <p:cNvPr id="20" name="TextBox 19"/>
          <p:cNvSpPr txBox="1"/>
          <p:nvPr/>
        </p:nvSpPr>
        <p:spPr>
          <a:xfrm>
            <a:off x="1417319" y="5062728"/>
            <a:ext cx="4389120" cy="1182624"/>
          </a:xfrm>
          <a:prstGeom prst="rect">
            <a:avLst/>
          </a:prstGeom>
          <a:noFill/>
        </p:spPr>
        <p:txBody>
          <a:bodyPr wrap="square" anchor="ctr" lIns="0" rIns="0" tIns="0" bIns="0">
            <a:spAutoFit/>
          </a:bodyPr>
          <a:lstStyle/>
          <a:p>
            <a:pPr algn="l">
              <a:defRPr sz="1700" b="0">
                <a:solidFill>
                  <a:srgbClr val="1F2937"/>
                </a:solidFill>
                <a:latin typeface="Calibri"/>
              </a:defRPr>
            </a:pPr>
            <a:r>
              <a:t>This is a limit of our test, not proof that recursion cannot work.</a:t>
            </a:r>
          </a:p>
        </p:txBody>
      </p:sp>
      <p:sp>
        <p:nvSpPr>
          <p:cNvPr id="21" name="Rounded Rectangle 20"/>
          <p:cNvSpPr/>
          <p:nvPr/>
        </p:nvSpPr>
        <p:spPr>
          <a:xfrm>
            <a:off x="6309360" y="1783080"/>
            <a:ext cx="5349240" cy="219456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l2_improver_utility.png"/>
          <p:cNvPicPr>
            <a:picLocks noChangeAspect="1"/>
          </p:cNvPicPr>
          <p:nvPr/>
        </p:nvPicPr>
        <p:blipFill>
          <a:blip r:embed="rId2"/>
          <a:stretch>
            <a:fillRect/>
          </a:stretch>
        </p:blipFill>
        <p:spPr>
          <a:xfrm>
            <a:off x="7244148" y="1874519"/>
            <a:ext cx="3479662" cy="2011679"/>
          </a:xfrm>
          <a:prstGeom prst="rect">
            <a:avLst/>
          </a:prstGeom>
        </p:spPr>
      </p:pic>
      <p:sp>
        <p:nvSpPr>
          <p:cNvPr id="23" name="Rounded Rectangle 22"/>
          <p:cNvSpPr/>
          <p:nvPr/>
        </p:nvSpPr>
        <p:spPr>
          <a:xfrm>
            <a:off x="6309360" y="4160520"/>
            <a:ext cx="5349240" cy="219456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l2_ablation.png"/>
          <p:cNvPicPr>
            <a:picLocks noChangeAspect="1"/>
          </p:cNvPicPr>
          <p:nvPr/>
        </p:nvPicPr>
        <p:blipFill>
          <a:blip r:embed="rId3"/>
          <a:stretch>
            <a:fillRect/>
          </a:stretch>
        </p:blipFill>
        <p:spPr>
          <a:xfrm>
            <a:off x="7333370" y="4251960"/>
            <a:ext cx="3301218" cy="201167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17320"/>
          </a:xfrm>
          <a:prstGeom prst="rect">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4173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56032"/>
            <a:ext cx="10972800" cy="274320"/>
          </a:xfrm>
          <a:prstGeom prst="rect">
            <a:avLst/>
          </a:prstGeom>
          <a:noFill/>
        </p:spPr>
        <p:txBody>
          <a:bodyPr wrap="square" anchor="t" lIns="0" rIns="0" tIns="0" bIns="0">
            <a:spAutoFit/>
          </a:bodyPr>
          <a:lstStyle/>
          <a:p>
            <a:pPr algn="l">
              <a:defRPr sz="1300" b="1">
                <a:solidFill>
                  <a:srgbClr val="93C5FD"/>
                </a:solidFill>
                <a:latin typeface="Calibri"/>
              </a:defRPr>
            </a:pPr>
            <a:r>
              <a:t>TRACK B: DISTILLATION</a:t>
            </a:r>
          </a:p>
        </p:txBody>
      </p:sp>
      <p:sp>
        <p:nvSpPr>
          <p:cNvPr id="6" name="TextBox 5"/>
          <p:cNvSpPr txBox="1"/>
          <p:nvPr/>
        </p:nvSpPr>
        <p:spPr>
          <a:xfrm>
            <a:off x="548640" y="566928"/>
            <a:ext cx="11064240" cy="731520"/>
          </a:xfrm>
          <a:prstGeom prst="rect">
            <a:avLst/>
          </a:prstGeom>
          <a:noFill/>
        </p:spPr>
        <p:txBody>
          <a:bodyPr wrap="square" anchor="t" lIns="0" rIns="0" tIns="0" bIns="0">
            <a:spAutoFit/>
          </a:bodyPr>
          <a:lstStyle/>
          <a:p>
            <a:pPr algn="l">
              <a:defRPr sz="2800" b="1">
                <a:solidFill>
                  <a:srgbClr val="FFFFFF"/>
                </a:solidFill>
                <a:latin typeface="Calibri"/>
              </a:defRPr>
            </a:pPr>
            <a:r>
              <a:t>Shrink the model; the average hides the tail</a:t>
            </a:r>
          </a:p>
        </p:txBody>
      </p:sp>
      <p:sp>
        <p:nvSpPr>
          <p:cNvPr id="7" name="TextBox 6"/>
          <p:cNvSpPr txBox="1"/>
          <p:nvPr/>
        </p:nvSpPr>
        <p:spPr>
          <a:xfrm>
            <a:off x="548640" y="6473952"/>
            <a:ext cx="5486400" cy="228600"/>
          </a:xfrm>
          <a:prstGeom prst="rect">
            <a:avLst/>
          </a:prstGeom>
          <a:noFill/>
        </p:spPr>
        <p:txBody>
          <a:bodyPr wrap="square" anchor="t" lIns="0" rIns="0" tIns="0" bIns="0">
            <a:spAutoFit/>
          </a:bodyPr>
          <a:lstStyle/>
          <a:p>
            <a:pPr algn="l">
              <a:defRPr sz="1100" b="1">
                <a:solidFill>
                  <a:srgbClr val="64748B"/>
                </a:solidFill>
                <a:latin typeface="Calibri"/>
              </a:defRPr>
            </a:pPr>
            <a:r>
              <a:t>EvoMarks</a:t>
            </a:r>
          </a:p>
        </p:txBody>
      </p:sp>
      <p:sp>
        <p:nvSpPr>
          <p:cNvPr id="8" name="TextBox 7"/>
          <p:cNvSpPr txBox="1"/>
          <p:nvPr/>
        </p:nvSpPr>
        <p:spPr>
          <a:xfrm>
            <a:off x="10728655" y="6473952"/>
            <a:ext cx="914400" cy="228600"/>
          </a:xfrm>
          <a:prstGeom prst="rect">
            <a:avLst/>
          </a:prstGeom>
          <a:noFill/>
        </p:spPr>
        <p:txBody>
          <a:bodyPr wrap="square" anchor="t" lIns="0" rIns="0" tIns="0" bIns="0">
            <a:spAutoFit/>
          </a:bodyPr>
          <a:lstStyle/>
          <a:p>
            <a:pPr algn="r">
              <a:defRPr sz="1100" b="0">
                <a:solidFill>
                  <a:srgbClr val="64748B"/>
                </a:solidFill>
                <a:latin typeface="Calibri"/>
              </a:defRPr>
            </a:pPr>
            <a:r>
              <a:t>10 / 13</a:t>
            </a:r>
          </a:p>
        </p:txBody>
      </p:sp>
      <p:sp>
        <p:nvSpPr>
          <p:cNvPr id="9" name="Rounded Rectangle 8"/>
          <p:cNvSpPr/>
          <p:nvPr/>
        </p:nvSpPr>
        <p:spPr>
          <a:xfrm>
            <a:off x="548640" y="1783080"/>
            <a:ext cx="5486400" cy="10058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947672"/>
            <a:ext cx="82296" cy="6766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4672" y="207568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1</a:t>
            </a:r>
          </a:p>
        </p:txBody>
      </p:sp>
      <p:sp>
        <p:nvSpPr>
          <p:cNvPr id="12" name="TextBox 11"/>
          <p:cNvSpPr txBox="1"/>
          <p:nvPr/>
        </p:nvSpPr>
        <p:spPr>
          <a:xfrm>
            <a:off x="1417319" y="1892807"/>
            <a:ext cx="4389120" cy="786384"/>
          </a:xfrm>
          <a:prstGeom prst="rect">
            <a:avLst/>
          </a:prstGeom>
          <a:noFill/>
        </p:spPr>
        <p:txBody>
          <a:bodyPr wrap="square" anchor="ctr" lIns="0" rIns="0" tIns="0" bIns="0">
            <a:spAutoFit/>
          </a:bodyPr>
          <a:lstStyle/>
          <a:p>
            <a:pPr algn="l">
              <a:defRPr sz="1600" b="0">
                <a:solidFill>
                  <a:srgbClr val="1F2937"/>
                </a:solidFill>
                <a:latin typeface="Calibri"/>
              </a:defRPr>
            </a:pPr>
            <a:r>
              <a:t>A small student learns from the big teacher's soft probabilities, on the same data as a normal student, so only the targets differ.</a:t>
            </a:r>
          </a:p>
        </p:txBody>
      </p:sp>
      <p:sp>
        <p:nvSpPr>
          <p:cNvPr id="13" name="Rounded Rectangle 12"/>
          <p:cNvSpPr/>
          <p:nvPr/>
        </p:nvSpPr>
        <p:spPr>
          <a:xfrm>
            <a:off x="548640" y="2971800"/>
            <a:ext cx="5486400" cy="10058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136392"/>
            <a:ext cx="82296" cy="6766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4672" y="326440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2</a:t>
            </a:r>
          </a:p>
        </p:txBody>
      </p:sp>
      <p:sp>
        <p:nvSpPr>
          <p:cNvPr id="16" name="TextBox 15"/>
          <p:cNvSpPr txBox="1"/>
          <p:nvPr/>
        </p:nvSpPr>
        <p:spPr>
          <a:xfrm>
            <a:off x="1417319" y="3081528"/>
            <a:ext cx="4389120" cy="786384"/>
          </a:xfrm>
          <a:prstGeom prst="rect">
            <a:avLst/>
          </a:prstGeom>
          <a:noFill/>
        </p:spPr>
        <p:txBody>
          <a:bodyPr wrap="square" anchor="ctr" lIns="0" rIns="0" tIns="0" bIns="0">
            <a:spAutoFit/>
          </a:bodyPr>
          <a:lstStyle/>
          <a:p>
            <a:pPr algn="l">
              <a:defRPr sz="1600" b="0">
                <a:solidFill>
                  <a:srgbClr val="1F2937"/>
                </a:solidFill>
                <a:latin typeface="Calibri"/>
              </a:defRPr>
            </a:pPr>
            <a:r>
              <a:t>Result: about 3x smaller and 2.5 to 4 times faster, for roughly 3.6 points less accuracy.</a:t>
            </a:r>
          </a:p>
        </p:txBody>
      </p:sp>
      <p:sp>
        <p:nvSpPr>
          <p:cNvPr id="17" name="Rounded Rectangle 16"/>
          <p:cNvSpPr/>
          <p:nvPr/>
        </p:nvSpPr>
        <p:spPr>
          <a:xfrm>
            <a:off x="548640" y="4160520"/>
            <a:ext cx="5486400" cy="10058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325112"/>
            <a:ext cx="82296" cy="6766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4672" y="445312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3</a:t>
            </a:r>
          </a:p>
        </p:txBody>
      </p:sp>
      <p:sp>
        <p:nvSpPr>
          <p:cNvPr id="20" name="TextBox 19"/>
          <p:cNvSpPr txBox="1"/>
          <p:nvPr/>
        </p:nvSpPr>
        <p:spPr>
          <a:xfrm>
            <a:off x="1417319" y="4270248"/>
            <a:ext cx="4389120" cy="786384"/>
          </a:xfrm>
          <a:prstGeom prst="rect">
            <a:avLst/>
          </a:prstGeom>
          <a:noFill/>
        </p:spPr>
        <p:txBody>
          <a:bodyPr wrap="square" anchor="ctr" lIns="0" rIns="0" tIns="0" bIns="0">
            <a:spAutoFit/>
          </a:bodyPr>
          <a:lstStyle/>
          <a:p>
            <a:pPr algn="l">
              <a:defRPr sz="1600" b="0">
                <a:solidFill>
                  <a:srgbClr val="1F2937"/>
                </a:solidFill>
                <a:latin typeface="Calibri"/>
              </a:defRPr>
            </a:pPr>
            <a:r>
              <a:t>Distilling helped little over plain training, and the evolved teacher was no better a teacher than the original.</a:t>
            </a:r>
          </a:p>
        </p:txBody>
      </p:sp>
      <p:sp>
        <p:nvSpPr>
          <p:cNvPr id="21" name="Rounded Rectangle 20"/>
          <p:cNvSpPr/>
          <p:nvPr/>
        </p:nvSpPr>
        <p:spPr>
          <a:xfrm>
            <a:off x="548640" y="5349240"/>
            <a:ext cx="5486400" cy="10058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5513832"/>
            <a:ext cx="82296" cy="6766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4672" y="564184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4</a:t>
            </a:r>
          </a:p>
        </p:txBody>
      </p:sp>
      <p:sp>
        <p:nvSpPr>
          <p:cNvPr id="24" name="TextBox 23"/>
          <p:cNvSpPr txBox="1"/>
          <p:nvPr/>
        </p:nvSpPr>
        <p:spPr>
          <a:xfrm>
            <a:off x="1417319" y="5458968"/>
            <a:ext cx="4389120" cy="786384"/>
          </a:xfrm>
          <a:prstGeom prst="rect">
            <a:avLst/>
          </a:prstGeom>
          <a:noFill/>
        </p:spPr>
        <p:txBody>
          <a:bodyPr wrap="square" anchor="ctr" lIns="0" rIns="0" tIns="0" bIns="0">
            <a:spAutoFit/>
          </a:bodyPr>
          <a:lstStyle/>
          <a:p>
            <a:pPr algn="l">
              <a:defRPr sz="1600" b="0">
                <a:solidFill>
                  <a:srgbClr val="1F2937"/>
                </a:solidFill>
                <a:latin typeface="Calibri"/>
              </a:defRPr>
            </a:pPr>
            <a:r>
              <a:t>Averages hide failures: the student is much worse on digit 9.</a:t>
            </a:r>
          </a:p>
        </p:txBody>
      </p:sp>
      <p:sp>
        <p:nvSpPr>
          <p:cNvPr id="25" name="Rounded Rectangle 24"/>
          <p:cNvSpPr/>
          <p:nvPr/>
        </p:nvSpPr>
        <p:spPr>
          <a:xfrm>
            <a:off x="6309360" y="1783080"/>
            <a:ext cx="5349240" cy="219456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kd_accuracy_vs_latency.png"/>
          <p:cNvPicPr>
            <a:picLocks noChangeAspect="1"/>
          </p:cNvPicPr>
          <p:nvPr/>
        </p:nvPicPr>
        <p:blipFill>
          <a:blip r:embed="rId2"/>
          <a:stretch>
            <a:fillRect/>
          </a:stretch>
        </p:blipFill>
        <p:spPr>
          <a:xfrm>
            <a:off x="7287476" y="1874519"/>
            <a:ext cx="3393007" cy="2011679"/>
          </a:xfrm>
          <a:prstGeom prst="rect">
            <a:avLst/>
          </a:prstGeom>
        </p:spPr>
      </p:pic>
      <p:sp>
        <p:nvSpPr>
          <p:cNvPr id="27" name="Rounded Rectangle 26"/>
          <p:cNvSpPr/>
          <p:nvPr/>
        </p:nvSpPr>
        <p:spPr>
          <a:xfrm>
            <a:off x="6309360" y="4160520"/>
            <a:ext cx="5349240" cy="219456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kd_per_digit_gap.png"/>
          <p:cNvPicPr>
            <a:picLocks noChangeAspect="1"/>
          </p:cNvPicPr>
          <p:nvPr/>
        </p:nvPicPr>
        <p:blipFill>
          <a:blip r:embed="rId3"/>
          <a:stretch>
            <a:fillRect/>
          </a:stretch>
        </p:blipFill>
        <p:spPr>
          <a:xfrm>
            <a:off x="6564527" y="4251960"/>
            <a:ext cx="4838905" cy="2011679"/>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17320"/>
          </a:xfrm>
          <a:prstGeom prst="rect">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4173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56032"/>
            <a:ext cx="10972800" cy="274320"/>
          </a:xfrm>
          <a:prstGeom prst="rect">
            <a:avLst/>
          </a:prstGeom>
          <a:noFill/>
        </p:spPr>
        <p:txBody>
          <a:bodyPr wrap="square" anchor="t" lIns="0" rIns="0" tIns="0" bIns="0">
            <a:spAutoFit/>
          </a:bodyPr>
          <a:lstStyle/>
          <a:p>
            <a:pPr algn="l">
              <a:defRPr sz="1300" b="1">
                <a:solidFill>
                  <a:srgbClr val="93C5FD"/>
                </a:solidFill>
                <a:latin typeface="Calibri"/>
              </a:defRPr>
            </a:pPr>
            <a:r>
              <a:t>DEMO</a:t>
            </a:r>
          </a:p>
        </p:txBody>
      </p:sp>
      <p:sp>
        <p:nvSpPr>
          <p:cNvPr id="6" name="TextBox 5"/>
          <p:cNvSpPr txBox="1"/>
          <p:nvPr/>
        </p:nvSpPr>
        <p:spPr>
          <a:xfrm>
            <a:off x="548640" y="566928"/>
            <a:ext cx="11064240" cy="731520"/>
          </a:xfrm>
          <a:prstGeom prst="rect">
            <a:avLst/>
          </a:prstGeom>
          <a:noFill/>
        </p:spPr>
        <p:txBody>
          <a:bodyPr wrap="square" anchor="t" lIns="0" rIns="0" tIns="0" bIns="0">
            <a:spAutoFit/>
          </a:bodyPr>
          <a:lstStyle/>
          <a:p>
            <a:pPr algn="l">
              <a:defRPr sz="2800" b="1">
                <a:solidFill>
                  <a:srgbClr val="FFFFFF"/>
                </a:solidFill>
                <a:latin typeface="Calibri"/>
              </a:defRPr>
            </a:pPr>
            <a:r>
              <a:t>Reading a sheet</a:t>
            </a:r>
          </a:p>
        </p:txBody>
      </p:sp>
      <p:sp>
        <p:nvSpPr>
          <p:cNvPr id="7" name="TextBox 6"/>
          <p:cNvSpPr txBox="1"/>
          <p:nvPr/>
        </p:nvSpPr>
        <p:spPr>
          <a:xfrm>
            <a:off x="548640" y="6473952"/>
            <a:ext cx="5486400" cy="228600"/>
          </a:xfrm>
          <a:prstGeom prst="rect">
            <a:avLst/>
          </a:prstGeom>
          <a:noFill/>
        </p:spPr>
        <p:txBody>
          <a:bodyPr wrap="square" anchor="t" lIns="0" rIns="0" tIns="0" bIns="0">
            <a:spAutoFit/>
          </a:bodyPr>
          <a:lstStyle/>
          <a:p>
            <a:pPr algn="l">
              <a:defRPr sz="1100" b="1">
                <a:solidFill>
                  <a:srgbClr val="64748B"/>
                </a:solidFill>
                <a:latin typeface="Calibri"/>
              </a:defRPr>
            </a:pPr>
            <a:r>
              <a:t>EvoMarks</a:t>
            </a:r>
          </a:p>
        </p:txBody>
      </p:sp>
      <p:sp>
        <p:nvSpPr>
          <p:cNvPr id="8" name="TextBox 7"/>
          <p:cNvSpPr txBox="1"/>
          <p:nvPr/>
        </p:nvSpPr>
        <p:spPr>
          <a:xfrm>
            <a:off x="10728655" y="6473952"/>
            <a:ext cx="914400" cy="228600"/>
          </a:xfrm>
          <a:prstGeom prst="rect">
            <a:avLst/>
          </a:prstGeom>
          <a:noFill/>
        </p:spPr>
        <p:txBody>
          <a:bodyPr wrap="square" anchor="t" lIns="0" rIns="0" tIns="0" bIns="0">
            <a:spAutoFit/>
          </a:bodyPr>
          <a:lstStyle/>
          <a:p>
            <a:pPr algn="r">
              <a:defRPr sz="1100" b="0">
                <a:solidFill>
                  <a:srgbClr val="64748B"/>
                </a:solidFill>
                <a:latin typeface="Calibri"/>
              </a:defRPr>
            </a:pPr>
            <a:r>
              <a:t>11 / 13</a:t>
            </a:r>
          </a:p>
        </p:txBody>
      </p:sp>
      <p:sp>
        <p:nvSpPr>
          <p:cNvPr id="9" name="Rounded Rectangle 8"/>
          <p:cNvSpPr/>
          <p:nvPr/>
        </p:nvSpPr>
        <p:spPr>
          <a:xfrm>
            <a:off x="548640" y="17830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9476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4672" y="26586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1</a:t>
            </a:r>
          </a:p>
        </p:txBody>
      </p:sp>
      <p:sp>
        <p:nvSpPr>
          <p:cNvPr id="12" name="TextBox 11"/>
          <p:cNvSpPr txBox="1"/>
          <p:nvPr/>
        </p:nvSpPr>
        <p:spPr>
          <a:xfrm>
            <a:off x="1417319" y="1892807"/>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Run: streamlit run app/streamlit_app.py, then the Try it page. Upload a photo or use a random synthetic sheet.</a:t>
            </a:r>
          </a:p>
        </p:txBody>
      </p:sp>
      <p:sp>
        <p:nvSpPr>
          <p:cNvPr id="13" name="Rounded Rectangle 12"/>
          <p:cNvSpPr/>
          <p:nvPr/>
        </p:nvSpPr>
        <p:spPr>
          <a:xfrm>
            <a:off x="6208776" y="17830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08776" y="19476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4808" y="26586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2</a:t>
            </a:r>
          </a:p>
        </p:txBody>
      </p:sp>
      <p:sp>
        <p:nvSpPr>
          <p:cNvPr id="16" name="TextBox 15"/>
          <p:cNvSpPr txBox="1"/>
          <p:nvPr/>
        </p:nvSpPr>
        <p:spPr>
          <a:xfrm>
            <a:off x="7077456" y="1892807"/>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Show: digits read, sum check, flag or no flag.</a:t>
            </a:r>
          </a:p>
        </p:txBody>
      </p:sp>
      <p:sp>
        <p:nvSpPr>
          <p:cNvPr id="17" name="Rounded Rectangle 16"/>
          <p:cNvSpPr/>
          <p:nvPr/>
        </p:nvSpPr>
        <p:spPr>
          <a:xfrm>
            <a:off x="548640" y="41833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3479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4672" y="50589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3</a:t>
            </a:r>
          </a:p>
        </p:txBody>
      </p:sp>
      <p:sp>
        <p:nvSpPr>
          <p:cNvPr id="20" name="TextBox 19"/>
          <p:cNvSpPr txBox="1"/>
          <p:nvPr/>
        </p:nvSpPr>
        <p:spPr>
          <a:xfrm>
            <a:off x="1417319" y="4293108"/>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Then show a version next to its parent: code diff, metric change, per-digit bars. This is the audit trail.</a:t>
            </a:r>
          </a:p>
        </p:txBody>
      </p:sp>
      <p:sp>
        <p:nvSpPr>
          <p:cNvPr id="21" name="Rounded Rectangle 20"/>
          <p:cNvSpPr/>
          <p:nvPr/>
        </p:nvSpPr>
        <p:spPr>
          <a:xfrm>
            <a:off x="6208776" y="41833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08776" y="43479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64808" y="50589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4</a:t>
            </a:r>
          </a:p>
        </p:txBody>
      </p:sp>
      <p:sp>
        <p:nvSpPr>
          <p:cNvPr id="24" name="TextBox 23"/>
          <p:cNvSpPr txBox="1"/>
          <p:nvPr/>
        </p:nvSpPr>
        <p:spPr>
          <a:xfrm>
            <a:off x="7077456" y="4293108"/>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Backup if the app fails: python demo.py photo.jpg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17320"/>
          </a:xfrm>
          <a:prstGeom prst="rect">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4173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56032"/>
            <a:ext cx="10972800" cy="274320"/>
          </a:xfrm>
          <a:prstGeom prst="rect">
            <a:avLst/>
          </a:prstGeom>
          <a:noFill/>
        </p:spPr>
        <p:txBody>
          <a:bodyPr wrap="square" anchor="t" lIns="0" rIns="0" tIns="0" bIns="0">
            <a:spAutoFit/>
          </a:bodyPr>
          <a:lstStyle/>
          <a:p>
            <a:pPr algn="l">
              <a:defRPr sz="1300" b="1">
                <a:solidFill>
                  <a:srgbClr val="93C5FD"/>
                </a:solidFill>
                <a:latin typeface="Calibri"/>
              </a:defRPr>
            </a:pPr>
            <a:r>
              <a:t>HONEST LIMITS</a:t>
            </a:r>
          </a:p>
        </p:txBody>
      </p:sp>
      <p:sp>
        <p:nvSpPr>
          <p:cNvPr id="6" name="TextBox 5"/>
          <p:cNvSpPr txBox="1"/>
          <p:nvPr/>
        </p:nvSpPr>
        <p:spPr>
          <a:xfrm>
            <a:off x="548640" y="566928"/>
            <a:ext cx="11064240" cy="731520"/>
          </a:xfrm>
          <a:prstGeom prst="rect">
            <a:avLst/>
          </a:prstGeom>
          <a:noFill/>
        </p:spPr>
        <p:txBody>
          <a:bodyPr wrap="square" anchor="t" lIns="0" rIns="0" tIns="0" bIns="0">
            <a:spAutoFit/>
          </a:bodyPr>
          <a:lstStyle/>
          <a:p>
            <a:pPr algn="l">
              <a:defRPr sz="2800" b="1">
                <a:solidFill>
                  <a:srgbClr val="FFFFFF"/>
                </a:solidFill>
                <a:latin typeface="Calibri"/>
              </a:defRPr>
            </a:pPr>
            <a:r>
              <a:t>What did not work and what this does not show</a:t>
            </a:r>
          </a:p>
        </p:txBody>
      </p:sp>
      <p:sp>
        <p:nvSpPr>
          <p:cNvPr id="7" name="TextBox 6"/>
          <p:cNvSpPr txBox="1"/>
          <p:nvPr/>
        </p:nvSpPr>
        <p:spPr>
          <a:xfrm>
            <a:off x="548640" y="6473952"/>
            <a:ext cx="5486400" cy="228600"/>
          </a:xfrm>
          <a:prstGeom prst="rect">
            <a:avLst/>
          </a:prstGeom>
          <a:noFill/>
        </p:spPr>
        <p:txBody>
          <a:bodyPr wrap="square" anchor="t" lIns="0" rIns="0" tIns="0" bIns="0">
            <a:spAutoFit/>
          </a:bodyPr>
          <a:lstStyle/>
          <a:p>
            <a:pPr algn="l">
              <a:defRPr sz="1100" b="1">
                <a:solidFill>
                  <a:srgbClr val="64748B"/>
                </a:solidFill>
                <a:latin typeface="Calibri"/>
              </a:defRPr>
            </a:pPr>
            <a:r>
              <a:t>EvoMarks</a:t>
            </a:r>
          </a:p>
        </p:txBody>
      </p:sp>
      <p:sp>
        <p:nvSpPr>
          <p:cNvPr id="8" name="TextBox 7"/>
          <p:cNvSpPr txBox="1"/>
          <p:nvPr/>
        </p:nvSpPr>
        <p:spPr>
          <a:xfrm>
            <a:off x="10728655" y="6473952"/>
            <a:ext cx="914400" cy="228600"/>
          </a:xfrm>
          <a:prstGeom prst="rect">
            <a:avLst/>
          </a:prstGeom>
          <a:noFill/>
        </p:spPr>
        <p:txBody>
          <a:bodyPr wrap="square" anchor="t" lIns="0" rIns="0" tIns="0" bIns="0">
            <a:spAutoFit/>
          </a:bodyPr>
          <a:lstStyle/>
          <a:p>
            <a:pPr algn="r">
              <a:defRPr sz="1100" b="0">
                <a:solidFill>
                  <a:srgbClr val="64748B"/>
                </a:solidFill>
                <a:latin typeface="Calibri"/>
              </a:defRPr>
            </a:pPr>
            <a:r>
              <a:t>12 / 13</a:t>
            </a:r>
          </a:p>
        </p:txBody>
      </p:sp>
      <p:sp>
        <p:nvSpPr>
          <p:cNvPr id="9" name="Rounded Rectangle 8"/>
          <p:cNvSpPr/>
          <p:nvPr/>
        </p:nvSpPr>
        <p:spPr>
          <a:xfrm>
            <a:off x="548640" y="1783080"/>
            <a:ext cx="5486400" cy="10058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947672"/>
            <a:ext cx="82296" cy="6766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4672" y="207568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1</a:t>
            </a:r>
          </a:p>
        </p:txBody>
      </p:sp>
      <p:sp>
        <p:nvSpPr>
          <p:cNvPr id="12" name="TextBox 11"/>
          <p:cNvSpPr txBox="1"/>
          <p:nvPr/>
        </p:nvSpPr>
        <p:spPr>
          <a:xfrm>
            <a:off x="1417319" y="1892807"/>
            <a:ext cx="4389120" cy="786384"/>
          </a:xfrm>
          <a:prstGeom prst="rect">
            <a:avLst/>
          </a:prstGeom>
          <a:noFill/>
        </p:spPr>
        <p:txBody>
          <a:bodyPr wrap="square" anchor="ctr" lIns="0" rIns="0" tIns="0" bIns="0">
            <a:spAutoFit/>
          </a:bodyPr>
          <a:lstStyle/>
          <a:p>
            <a:pPr algn="l">
              <a:defRPr sz="1600" b="0">
                <a:solidFill>
                  <a:srgbClr val="1F2937"/>
                </a:solidFill>
                <a:latin typeface="Calibri"/>
              </a:defRPr>
            </a:pPr>
            <a:r>
              <a:t>Most edits hurt, and the early gain came from a cheap evaluator. Lesson: measure the noise of your gate.</a:t>
            </a:r>
          </a:p>
        </p:txBody>
      </p:sp>
      <p:sp>
        <p:nvSpPr>
          <p:cNvPr id="13" name="Rounded Rectangle 12"/>
          <p:cNvSpPr/>
          <p:nvPr/>
        </p:nvSpPr>
        <p:spPr>
          <a:xfrm>
            <a:off x="548640" y="2971800"/>
            <a:ext cx="5486400" cy="10058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136392"/>
            <a:ext cx="82296" cy="6766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4672" y="326440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2</a:t>
            </a:r>
          </a:p>
        </p:txBody>
      </p:sp>
      <p:sp>
        <p:nvSpPr>
          <p:cNvPr id="16" name="TextBox 15"/>
          <p:cNvSpPr txBox="1"/>
          <p:nvPr/>
        </p:nvSpPr>
        <p:spPr>
          <a:xfrm>
            <a:off x="1417319" y="3081528"/>
            <a:ext cx="4389120" cy="786384"/>
          </a:xfrm>
          <a:prstGeom prst="rect">
            <a:avLst/>
          </a:prstGeom>
          <a:noFill/>
        </p:spPr>
        <p:txBody>
          <a:bodyPr wrap="square" anchor="ctr" lIns="0" rIns="0" tIns="0" bIns="0">
            <a:spAutoFit/>
          </a:bodyPr>
          <a:lstStyle/>
          <a:p>
            <a:pPr algn="l">
              <a:defRPr sz="1600" b="0">
                <a:solidFill>
                  <a:srgbClr val="1F2937"/>
                </a:solidFill>
                <a:latin typeface="Calibri"/>
              </a:defRPr>
            </a:pPr>
            <a:r>
              <a:t>Wrong digits that still add up pass the check. Flags are mostly misreads, so a flag means please check.</a:t>
            </a:r>
          </a:p>
        </p:txBody>
      </p:sp>
      <p:sp>
        <p:nvSpPr>
          <p:cNvPr id="17" name="Rounded Rectangle 16"/>
          <p:cNvSpPr/>
          <p:nvPr/>
        </p:nvSpPr>
        <p:spPr>
          <a:xfrm>
            <a:off x="548640" y="4160520"/>
            <a:ext cx="5486400" cy="10058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325112"/>
            <a:ext cx="82296" cy="6766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4672" y="445312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3</a:t>
            </a:r>
          </a:p>
        </p:txBody>
      </p:sp>
      <p:sp>
        <p:nvSpPr>
          <p:cNvPr id="20" name="TextBox 19"/>
          <p:cNvSpPr txBox="1"/>
          <p:nvPr/>
        </p:nvSpPr>
        <p:spPr>
          <a:xfrm>
            <a:off x="1417319" y="4270248"/>
            <a:ext cx="4389120" cy="786384"/>
          </a:xfrm>
          <a:prstGeom prst="rect">
            <a:avLst/>
          </a:prstGeom>
          <a:noFill/>
        </p:spPr>
        <p:txBody>
          <a:bodyPr wrap="square" anchor="ctr" lIns="0" rIns="0" tIns="0" bIns="0">
            <a:spAutoFit/>
          </a:bodyPr>
          <a:lstStyle/>
          <a:p>
            <a:pPr algn="l">
              <a:defRPr sz="1600" b="0">
                <a:solidFill>
                  <a:srgbClr val="1F2937"/>
                </a:solidFill>
                <a:latin typeface="Calibri"/>
              </a:defRPr>
            </a:pPr>
            <a:r>
              <a:t>Sheets are built from MNIST digits, cleaner than phone photos. The real-photo test was not run.</a:t>
            </a:r>
          </a:p>
        </p:txBody>
      </p:sp>
      <p:sp>
        <p:nvSpPr>
          <p:cNvPr id="21" name="Rounded Rectangle 20"/>
          <p:cNvSpPr/>
          <p:nvPr/>
        </p:nvSpPr>
        <p:spPr>
          <a:xfrm>
            <a:off x="548640" y="5349240"/>
            <a:ext cx="5486400" cy="10058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5513832"/>
            <a:ext cx="82296" cy="6766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4672" y="564184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4</a:t>
            </a:r>
          </a:p>
        </p:txBody>
      </p:sp>
      <p:sp>
        <p:nvSpPr>
          <p:cNvPr id="24" name="TextBox 23"/>
          <p:cNvSpPr txBox="1"/>
          <p:nvPr/>
        </p:nvSpPr>
        <p:spPr>
          <a:xfrm>
            <a:off x="1417319" y="5458968"/>
            <a:ext cx="4389120" cy="786384"/>
          </a:xfrm>
          <a:prstGeom prst="rect">
            <a:avLst/>
          </a:prstGeom>
          <a:noFill/>
        </p:spPr>
        <p:txBody>
          <a:bodyPr wrap="square" anchor="ctr" lIns="0" rIns="0" tIns="0" bIns="0">
            <a:spAutoFit/>
          </a:bodyPr>
          <a:lstStyle/>
          <a:p>
            <a:pPr algn="l">
              <a:defRPr sz="1600" b="0">
                <a:solidFill>
                  <a:srgbClr val="1F2937"/>
                </a:solidFill>
                <a:latin typeface="Calibri"/>
              </a:defRPr>
            </a:pPr>
            <a:r>
              <a:t>This is bounded, sandboxed self-improvement, not open-ended.</a:t>
            </a:r>
          </a:p>
        </p:txBody>
      </p:sp>
      <p:sp>
        <p:nvSpPr>
          <p:cNvPr id="25" name="Rounded Rectangle 24"/>
          <p:cNvSpPr/>
          <p:nvPr/>
        </p:nvSpPr>
        <p:spPr>
          <a:xfrm>
            <a:off x="6309360" y="1783080"/>
            <a:ext cx="5349240" cy="457200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system_sheet_metrics.png"/>
          <p:cNvPicPr>
            <a:picLocks noChangeAspect="1"/>
          </p:cNvPicPr>
          <p:nvPr/>
        </p:nvPicPr>
        <p:blipFill>
          <a:blip r:embed="rId2"/>
          <a:stretch>
            <a:fillRect/>
          </a:stretch>
        </p:blipFill>
        <p:spPr>
          <a:xfrm>
            <a:off x="6400800" y="3051463"/>
            <a:ext cx="5166359" cy="203523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17320"/>
          </a:xfrm>
          <a:prstGeom prst="rect">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4173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56032"/>
            <a:ext cx="10972800" cy="274320"/>
          </a:xfrm>
          <a:prstGeom prst="rect">
            <a:avLst/>
          </a:prstGeom>
          <a:noFill/>
        </p:spPr>
        <p:txBody>
          <a:bodyPr wrap="square" anchor="t" lIns="0" rIns="0" tIns="0" bIns="0">
            <a:spAutoFit/>
          </a:bodyPr>
          <a:lstStyle/>
          <a:p>
            <a:pPr algn="l">
              <a:defRPr sz="1300" b="1">
                <a:solidFill>
                  <a:srgbClr val="93C5FD"/>
                </a:solidFill>
                <a:latin typeface="Calibri"/>
              </a:defRPr>
            </a:pPr>
            <a:r>
              <a:t>TAKEAWAYS</a:t>
            </a:r>
          </a:p>
        </p:txBody>
      </p:sp>
      <p:sp>
        <p:nvSpPr>
          <p:cNvPr id="6" name="TextBox 5"/>
          <p:cNvSpPr txBox="1"/>
          <p:nvPr/>
        </p:nvSpPr>
        <p:spPr>
          <a:xfrm>
            <a:off x="548640" y="566928"/>
            <a:ext cx="11064240" cy="731520"/>
          </a:xfrm>
          <a:prstGeom prst="rect">
            <a:avLst/>
          </a:prstGeom>
          <a:noFill/>
        </p:spPr>
        <p:txBody>
          <a:bodyPr wrap="square" anchor="t" lIns="0" rIns="0" tIns="0" bIns="0">
            <a:spAutoFit/>
          </a:bodyPr>
          <a:lstStyle/>
          <a:p>
            <a:pPr algn="l">
              <a:defRPr sz="2800" b="1">
                <a:solidFill>
                  <a:srgbClr val="FFFFFF"/>
                </a:solidFill>
                <a:latin typeface="Calibri"/>
              </a:defRPr>
            </a:pPr>
            <a:r>
              <a:t>What to remember</a:t>
            </a:r>
          </a:p>
        </p:txBody>
      </p:sp>
      <p:sp>
        <p:nvSpPr>
          <p:cNvPr id="7" name="TextBox 6"/>
          <p:cNvSpPr txBox="1"/>
          <p:nvPr/>
        </p:nvSpPr>
        <p:spPr>
          <a:xfrm>
            <a:off x="548640" y="6473952"/>
            <a:ext cx="5486400" cy="228600"/>
          </a:xfrm>
          <a:prstGeom prst="rect">
            <a:avLst/>
          </a:prstGeom>
          <a:noFill/>
        </p:spPr>
        <p:txBody>
          <a:bodyPr wrap="square" anchor="t" lIns="0" rIns="0" tIns="0" bIns="0">
            <a:spAutoFit/>
          </a:bodyPr>
          <a:lstStyle/>
          <a:p>
            <a:pPr algn="l">
              <a:defRPr sz="1100" b="1">
                <a:solidFill>
                  <a:srgbClr val="64748B"/>
                </a:solidFill>
                <a:latin typeface="Calibri"/>
              </a:defRPr>
            </a:pPr>
            <a:r>
              <a:t>EvoMarks</a:t>
            </a:r>
          </a:p>
        </p:txBody>
      </p:sp>
      <p:sp>
        <p:nvSpPr>
          <p:cNvPr id="8" name="TextBox 7"/>
          <p:cNvSpPr txBox="1"/>
          <p:nvPr/>
        </p:nvSpPr>
        <p:spPr>
          <a:xfrm>
            <a:off x="10728655" y="6473952"/>
            <a:ext cx="914400" cy="228600"/>
          </a:xfrm>
          <a:prstGeom prst="rect">
            <a:avLst/>
          </a:prstGeom>
          <a:noFill/>
        </p:spPr>
        <p:txBody>
          <a:bodyPr wrap="square" anchor="t" lIns="0" rIns="0" tIns="0" bIns="0">
            <a:spAutoFit/>
          </a:bodyPr>
          <a:lstStyle/>
          <a:p>
            <a:pPr algn="r">
              <a:defRPr sz="1100" b="0">
                <a:solidFill>
                  <a:srgbClr val="64748B"/>
                </a:solidFill>
                <a:latin typeface="Calibri"/>
              </a:defRPr>
            </a:pPr>
            <a:r>
              <a:t>13 / 13</a:t>
            </a:r>
          </a:p>
        </p:txBody>
      </p:sp>
      <p:sp>
        <p:nvSpPr>
          <p:cNvPr id="9" name="Rounded Rectangle 8"/>
          <p:cNvSpPr/>
          <p:nvPr/>
        </p:nvSpPr>
        <p:spPr>
          <a:xfrm>
            <a:off x="548640" y="17830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9476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4672" y="26586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1</a:t>
            </a:r>
          </a:p>
        </p:txBody>
      </p:sp>
      <p:sp>
        <p:nvSpPr>
          <p:cNvPr id="12" name="TextBox 11"/>
          <p:cNvSpPr txBox="1"/>
          <p:nvPr/>
        </p:nvSpPr>
        <p:spPr>
          <a:xfrm>
            <a:off x="1417319" y="1892807"/>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Use an independent judge that the system cannot edit or fool.</a:t>
            </a:r>
          </a:p>
        </p:txBody>
      </p:sp>
      <p:sp>
        <p:nvSpPr>
          <p:cNvPr id="13" name="Rounded Rectangle 12"/>
          <p:cNvSpPr/>
          <p:nvPr/>
        </p:nvSpPr>
        <p:spPr>
          <a:xfrm>
            <a:off x="6208776" y="17830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08776" y="19476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4808" y="26586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2</a:t>
            </a:r>
          </a:p>
        </p:txBody>
      </p:sp>
      <p:sp>
        <p:nvSpPr>
          <p:cNvPr id="16" name="TextBox 15"/>
          <p:cNvSpPr txBox="1"/>
          <p:nvPr/>
        </p:nvSpPr>
        <p:spPr>
          <a:xfrm>
            <a:off x="7077456" y="1892807"/>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Rewrite code as a tree so every change is valid, small and traceable.</a:t>
            </a:r>
          </a:p>
        </p:txBody>
      </p:sp>
      <p:sp>
        <p:nvSpPr>
          <p:cNvPr id="17" name="Rounded Rectangle 16"/>
          <p:cNvSpPr/>
          <p:nvPr/>
        </p:nvSpPr>
        <p:spPr>
          <a:xfrm>
            <a:off x="548640" y="41833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3479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4672" y="50589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3</a:t>
            </a:r>
          </a:p>
        </p:txBody>
      </p:sp>
      <p:sp>
        <p:nvSpPr>
          <p:cNvPr id="20" name="TextBox 19"/>
          <p:cNvSpPr txBox="1"/>
          <p:nvPr/>
        </p:nvSpPr>
        <p:spPr>
          <a:xfrm>
            <a:off x="1417319" y="4293108"/>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Keep a full archive and a rollback, and report null results and noise honestly.</a:t>
            </a:r>
          </a:p>
        </p:txBody>
      </p:sp>
      <p:sp>
        <p:nvSpPr>
          <p:cNvPr id="21" name="Rounded Rectangle 20"/>
          <p:cNvSpPr/>
          <p:nvPr/>
        </p:nvSpPr>
        <p:spPr>
          <a:xfrm>
            <a:off x="6208776" y="41833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08776" y="43479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64808" y="50589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4</a:t>
            </a:r>
          </a:p>
        </p:txBody>
      </p:sp>
      <p:sp>
        <p:nvSpPr>
          <p:cNvPr id="24" name="TextBox 23"/>
          <p:cNvSpPr txBox="1"/>
          <p:nvPr/>
        </p:nvSpPr>
        <p:spPr>
          <a:xfrm>
            <a:off x="7077456" y="4293108"/>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Next: test on real photographs and fix the Level 2 gate.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